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0"/>
    <p:restoredTop sz="94681"/>
  </p:normalViewPr>
  <p:slideViewPr>
    <p:cSldViewPr snapToGrid="0">
      <p:cViewPr varScale="1">
        <p:scale>
          <a:sx n="173" d="100"/>
          <a:sy n="173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work/VirtuCDAIO_Platform_Common/START_HERE.txt</a:t>
            </a:r>
          </a:p>
          <a:p>
            <a:r>
              <a:t>- Local assessment catalog: work/VirtuCDAIO_Platform_Common/app/assessmentCatalog.js</a:t>
            </a:r>
          </a:p>
          <a:p>
            <a:r>
              <a:t>- Local connection guide: work/VirtuCDAIO_Platform_Common/DATA_CONNECTION_AND_ASSESSMENT_GUIDE.txt</a:t>
            </a:r>
          </a:p>
          <a:p>
            <a:r>
              <a:t>- Local application: work/VirtuCDAIO_Platform_Common/app/index.html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465AB0-D621-4A5D-A720-B28434DE97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88861C-184C-45D7-B6F3-FA1CBD019088}"/>
              </a:ext>
            </a:extLst>
          </p:cNvPr>
          <p:cNvSpPr>
            <a:spLocks noGrp="1"/>
          </p:cNvSpPr>
          <p:nvPr/>
        </p:nvSpPr>
        <p:spPr>
          <a:xfrm>
            <a:off x="742950" y="666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B8A89"/>
                </a:solidFill>
              </a:defRPr>
            </a:pPr>
            <a:r>
              <a:rPr sz="975" b="1">
                <a:solidFill>
                  <a:srgbClr val="0B8A89"/>
                </a:solidFill>
              </a:rPr>
              <a:t>EXECUTIVE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E036B-D856-43DA-BCEC-CED791F01F19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VirtuCDAIO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CB9028-B733-4F7A-8F3C-1682D65B9F94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C6D3DD"/>
                </a:solidFill>
              </a:defRPr>
            </a:pPr>
            <a:r>
              <a:rPr sz="1950" b="0">
                <a:solidFill>
                  <a:srgbClr val="C6D3DD"/>
                </a:solidFill>
              </a:rPr>
              <a:t>An integrated data, analytics and AI leadership accelerator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C4BC49B-1AA2-4088-8F5F-ACFF4CF34D2F}"/>
              </a:ext>
            </a:extLst>
          </p:cNvPr>
          <p:cNvSpPr>
            <a:spLocks noGrp="1"/>
          </p:cNvSpPr>
          <p:nvPr/>
        </p:nvSpPr>
        <p:spPr>
          <a:xfrm>
            <a:off x="742950" y="4048125"/>
            <a:ext cx="1714500" cy="9525"/>
          </a:xfrm>
          <a:prstGeom prst="line">
            <a:avLst/>
          </a:prstGeom>
          <a:noFill/>
          <a:ln w="47625">
            <a:solidFill>
              <a:srgbClr val="0B8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362A9-CB5F-46A2-96E3-C801954050A5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9FB2C1"/>
                </a:solidFill>
              </a:defRPr>
            </a:pPr>
            <a:r>
              <a:rPr sz="1275" b="0">
                <a:solidFill>
                  <a:srgbClr val="9FB2C1"/>
                </a:solidFill>
              </a:rPr>
              <a:t>Current utility build • Executive discussion draft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D0FAD-2CED-4FDA-B165-3ADB67A36D56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9FB2C1"/>
                </a:solidFill>
              </a:defRPr>
            </a:pPr>
            <a:r>
              <a:rPr sz="1125" b="0">
                <a:solidFill>
                  <a:srgbClr val="9FB2C1"/>
                </a:solidFill>
              </a:rPr>
              <a:t>Decision-ready overview • capabilities • architecture • deployment</a:t>
            </a:r>
          </a:p>
        </p:txBody>
      </p:sp>
    </p:spTree>
    <p:extLst>
      <p:ext uri="{BB962C8B-B14F-4D97-AF65-F5344CB8AC3E}">
        <p14:creationId xmlns:p14="http://schemas.microsoft.com/office/powerpoint/2010/main" val="59461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92A383F-37E2-4220-88A9-5A55913F8C5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EXECUTIVE 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95ACE9-4C17-4A81-8A0E-A14DB2873F9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VirtuCDAIO joins strategy, data trust and AI governance in one cockpit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0340E20-31EF-4B70-9CEC-374A1C1C0BD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22A384-BF60-4062-9050-131677B9855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26FC63-8DD6-44D5-B808-9EDC3BB17F25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9C0B4E-FAC9-4658-9336-B2AED4EE8EB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The platform connects leadership decisions to evidence, maturity, operating controls and portfolio value—while remaining usable without an AI connection.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93D42E5-21B4-487B-A2BB-96D4A7C5E01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23875" cy="9525"/>
          </a:xfrm>
          <a:prstGeom prst="line">
            <a:avLst/>
          </a:prstGeom>
          <a:noFill/>
          <a:ln w="47625">
            <a:solidFill>
              <a:srgbClr val="0B8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5AFA0C-B3EA-4B8B-90E7-474EE2C9D926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Set direction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C7379D-90DB-4E48-B36A-47386D866E75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143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Translate enterprise outcomes into data and AI strategy, governance, operating model, roadmap and portfolio choices.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08F003A-B01D-478A-87FC-FA3AC23B1395}"/>
              </a:ext>
            </a:extLst>
          </p:cNvPr>
          <p:cNvSpPr>
            <a:spLocks noGrp="1"/>
          </p:cNvSpPr>
          <p:nvPr/>
        </p:nvSpPr>
        <p:spPr>
          <a:xfrm>
            <a:off x="4524375" y="2571750"/>
            <a:ext cx="523875" cy="9525"/>
          </a:xfrm>
          <a:prstGeom prst="line">
            <a:avLst/>
          </a:prstGeom>
          <a:noFill/>
          <a:ln w="47625">
            <a:solidFill>
              <a:srgbClr val="2B6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1270E-052D-4EC2-A229-BCDBD1896FBA}"/>
              </a:ext>
            </a:extLst>
          </p:cNvPr>
          <p:cNvSpPr>
            <a:spLocks noGrp="1"/>
          </p:cNvSpPr>
          <p:nvPr/>
        </p:nvSpPr>
        <p:spPr>
          <a:xfrm>
            <a:off x="4524375" y="27432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Build trust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386798-1147-49B5-AC3C-BBEB1D24F7FC}"/>
              </a:ext>
            </a:extLst>
          </p:cNvPr>
          <p:cNvSpPr>
            <a:spLocks noGrp="1"/>
          </p:cNvSpPr>
          <p:nvPr/>
        </p:nvSpPr>
        <p:spPr>
          <a:xfrm>
            <a:off x="4524375" y="3371850"/>
            <a:ext cx="3143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Assess data quality, architecture, engineering, metadata, privacy, security, analytics and resilience with evidence.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85E07D4-5971-4C77-B298-B392B10BF849}"/>
              </a:ext>
            </a:extLst>
          </p:cNvPr>
          <p:cNvSpPr>
            <a:spLocks noGrp="1"/>
          </p:cNvSpPr>
          <p:nvPr/>
        </p:nvSpPr>
        <p:spPr>
          <a:xfrm>
            <a:off x="8362950" y="2571750"/>
            <a:ext cx="523875" cy="9525"/>
          </a:xfrm>
          <a:prstGeom prst="line">
            <a:avLst/>
          </a:prstGeom>
          <a:noFill/>
          <a:ln w="47625">
            <a:solidFill>
              <a:srgbClr val="E35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B6B0A6-FD98-4A38-A8E5-DBE22B002DC9}"/>
              </a:ext>
            </a:extLst>
          </p:cNvPr>
          <p:cNvSpPr>
            <a:spLocks noGrp="1"/>
          </p:cNvSpPr>
          <p:nvPr/>
        </p:nvSpPr>
        <p:spPr>
          <a:xfrm>
            <a:off x="8362950" y="27432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Govern intelligence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836EA3-703D-496B-8B4C-8DE0D8749CDF}"/>
              </a:ext>
            </a:extLst>
          </p:cNvPr>
          <p:cNvSpPr>
            <a:spLocks noGrp="1"/>
          </p:cNvSpPr>
          <p:nvPr/>
        </p:nvSpPr>
        <p:spPr>
          <a:xfrm>
            <a:off x="8362950" y="3371850"/>
            <a:ext cx="3143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Manage models, GenAI, RAG and agentic systems through lifecycle, risk, value and assurance views.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639BCF-B930-4FA9-AB1F-DE1FE9ACBAE3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8A89"/>
                </a:solidFill>
              </a:defRPr>
            </a:pPr>
            <a:r>
              <a:rPr sz="1050" b="1">
                <a:solidFill>
                  <a:srgbClr val="0B8A89"/>
                </a:solidFill>
              </a:rPr>
              <a:t>Executive implication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EA0628-18A0-4B80-BE22-F83878183BFA}"/>
              </a:ext>
            </a:extLst>
          </p:cNvPr>
          <p:cNvSpPr>
            <a:spLocks noGrp="1"/>
          </p:cNvSpPr>
          <p:nvPr/>
        </p:nvSpPr>
        <p:spPr>
          <a:xfrm>
            <a:off x="2571750" y="5524500"/>
            <a:ext cx="847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82838"/>
                </a:solidFill>
              </a:defRPr>
            </a:pPr>
            <a:r>
              <a:rPr sz="1425" b="1">
                <a:solidFill>
                  <a:srgbClr val="182838"/>
                </a:solidFill>
              </a:rPr>
              <a:t>Use the tool to establish a common management language; enterprise adoption still requires governed sources, clear ownership and production-grade controls.</a:t>
            </a:r>
          </a:p>
        </p:txBody>
      </p:sp>
    </p:spTree>
    <p:extLst>
      <p:ext uri="{BB962C8B-B14F-4D97-AF65-F5344CB8AC3E}">
        <p14:creationId xmlns:p14="http://schemas.microsoft.com/office/powerpoint/2010/main" val="851268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3566793-8633-4DE4-AC22-54764640EB8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CAPABILITY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E6F0E6-0D02-465C-8032-E7450BA4720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The current build spans the full data and AI leadership agenda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984D130-ED19-48CC-9E36-BB90AF6E32E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55B684-A89E-4110-91A7-649EB1EEB9E9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0EAFAA-FB4C-4408-81B0-608DE8FF0ACB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4E368-E509-4E78-B16E-E73F463D7DA5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B415D0-F772-458F-8620-EB3DE91A373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Strategy &amp;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42F69D-1E1C-459D-887E-961F787DBDC2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Strategy and roadmap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Operating model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Portfolio economics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Board reporting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542E874-004E-4010-9856-0973FF66AD0B}"/>
              </a:ext>
            </a:extLst>
          </p:cNvPr>
          <p:cNvSpPr>
            <a:spLocks noGrp="1"/>
          </p:cNvSpPr>
          <p:nvPr/>
        </p:nvSpPr>
        <p:spPr>
          <a:xfrm>
            <a:off x="2638425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A5FF2-A22D-4F89-B615-322E45D67E89}"/>
              </a:ext>
            </a:extLst>
          </p:cNvPr>
          <p:cNvSpPr>
            <a:spLocks noGrp="1"/>
          </p:cNvSpPr>
          <p:nvPr/>
        </p:nvSpPr>
        <p:spPr>
          <a:xfrm>
            <a:off x="2847975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6FA6"/>
                </a:solidFill>
              </a:defRPr>
            </a:pPr>
            <a:r>
              <a:rPr sz="1350" b="1">
                <a:solidFill>
                  <a:srgbClr val="2B6FA6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B9192F-FFB3-4A02-8E69-4BFC82E2BFF0}"/>
              </a:ext>
            </a:extLst>
          </p:cNvPr>
          <p:cNvSpPr>
            <a:spLocks noGrp="1"/>
          </p:cNvSpPr>
          <p:nvPr/>
        </p:nvSpPr>
        <p:spPr>
          <a:xfrm>
            <a:off x="2847975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Data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A1DF45-2AC3-4FF0-94E0-5890702F65DA}"/>
              </a:ext>
            </a:extLst>
          </p:cNvPr>
          <p:cNvSpPr>
            <a:spLocks noGrp="1"/>
          </p:cNvSpPr>
          <p:nvPr/>
        </p:nvSpPr>
        <p:spPr>
          <a:xfrm>
            <a:off x="2847975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Governance and stewardship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Metadata and lineage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Quality and MDM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Records and sharing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DA8BB85-2942-46E7-A587-D6CFC6160E0D}"/>
              </a:ext>
            </a:extLst>
          </p:cNvPr>
          <p:cNvSpPr>
            <a:spLocks noGrp="1"/>
          </p:cNvSpPr>
          <p:nvPr/>
        </p:nvSpPr>
        <p:spPr>
          <a:xfrm>
            <a:off x="4800600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E9A7A1-FF78-4C5A-807B-1A3A918C97ED}"/>
              </a:ext>
            </a:extLst>
          </p:cNvPr>
          <p:cNvSpPr>
            <a:spLocks noGrp="1"/>
          </p:cNvSpPr>
          <p:nvPr/>
        </p:nvSpPr>
        <p:spPr>
          <a:xfrm>
            <a:off x="5010150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E8B67"/>
                </a:solidFill>
              </a:defRPr>
            </a:pPr>
            <a:r>
              <a:rPr sz="1350" b="1">
                <a:solidFill>
                  <a:srgbClr val="2E8B67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5441EB-CE91-4438-AE95-FC5D697E0353}"/>
              </a:ext>
            </a:extLst>
          </p:cNvPr>
          <p:cNvSpPr>
            <a:spLocks noGrp="1"/>
          </p:cNvSpPr>
          <p:nvPr/>
        </p:nvSpPr>
        <p:spPr>
          <a:xfrm>
            <a:off x="5010150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Architecture &amp; delivery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7FFDD5-45F3-42DC-8397-A4EED3170F49}"/>
              </a:ext>
            </a:extLst>
          </p:cNvPr>
          <p:cNvSpPr>
            <a:spLocks noGrp="1"/>
          </p:cNvSpPr>
          <p:nvPr/>
        </p:nvSpPr>
        <p:spPr>
          <a:xfrm>
            <a:off x="5010150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Cloud data platform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Engineering and APIs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Analytics and semantic metrics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Data products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D1764AB-6732-4351-A942-C9C8F68F7F43}"/>
              </a:ext>
            </a:extLst>
          </p:cNvPr>
          <p:cNvSpPr>
            <a:spLocks noGrp="1"/>
          </p:cNvSpPr>
          <p:nvPr/>
        </p:nvSpPr>
        <p:spPr>
          <a:xfrm>
            <a:off x="6962775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F1623B-D69E-4994-93B0-F18DCBF700EB}"/>
              </a:ext>
            </a:extLst>
          </p:cNvPr>
          <p:cNvSpPr>
            <a:spLocks noGrp="1"/>
          </p:cNvSpPr>
          <p:nvPr/>
        </p:nvSpPr>
        <p:spPr>
          <a:xfrm>
            <a:off x="7172325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5A63B"/>
                </a:solidFill>
              </a:defRPr>
            </a:pPr>
            <a:r>
              <a:rPr sz="1350" b="1">
                <a:solidFill>
                  <a:srgbClr val="E5A63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CD368A-94EC-4D65-AC0A-B308DFA4AE86}"/>
              </a:ext>
            </a:extLst>
          </p:cNvPr>
          <p:cNvSpPr>
            <a:spLocks noGrp="1"/>
          </p:cNvSpPr>
          <p:nvPr/>
        </p:nvSpPr>
        <p:spPr>
          <a:xfrm>
            <a:off x="7172325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Trust &amp; risk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21B2F3-0AFC-4410-B13A-065ED49C35E2}"/>
              </a:ext>
            </a:extLst>
          </p:cNvPr>
          <p:cNvSpPr>
            <a:spLocks noGrp="1"/>
          </p:cNvSpPr>
          <p:nvPr/>
        </p:nvSpPr>
        <p:spPr>
          <a:xfrm>
            <a:off x="7172325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Privacy and security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Third-party risk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FinOps and resilience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Regulatory reporting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658572A3-C455-4D07-804A-9CC94D397CBE}"/>
              </a:ext>
            </a:extLst>
          </p:cNvPr>
          <p:cNvSpPr>
            <a:spLocks noGrp="1"/>
          </p:cNvSpPr>
          <p:nvPr/>
        </p:nvSpPr>
        <p:spPr>
          <a:xfrm>
            <a:off x="9124950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D83594-8F87-4816-99F3-6345F2697ADF}"/>
              </a:ext>
            </a:extLst>
          </p:cNvPr>
          <p:cNvSpPr>
            <a:spLocks noGrp="1"/>
          </p:cNvSpPr>
          <p:nvPr/>
        </p:nvSpPr>
        <p:spPr>
          <a:xfrm>
            <a:off x="9334500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3D8AD9-1363-4DC9-92A1-BB06630B4873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AI &amp; agents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F7F64B-C22B-4061-8B1D-815350A1DC9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Model governance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MLOps and responsible AI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GenAI and RAG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Agent identity / tools / traces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F69111-2E23-4DA4-8F41-8B4FEBA3268F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82838"/>
                </a:solidFill>
              </a:defRPr>
            </a:pPr>
            <a:r>
              <a:rPr sz="1425" b="1">
                <a:solidFill>
                  <a:srgbClr val="182838"/>
                </a:solidFill>
              </a:rPr>
              <a:t>The breadth supports enterprise navigation; each deployment should focus on the few domains tied to funded decisions and measurable outcomes.</a:t>
            </a:r>
          </a:p>
        </p:txBody>
      </p:sp>
    </p:spTree>
    <p:extLst>
      <p:ext uri="{BB962C8B-B14F-4D97-AF65-F5344CB8AC3E}">
        <p14:creationId xmlns:p14="http://schemas.microsoft.com/office/powerpoint/2010/main" val="75951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2BFBC61-7034-437F-AEAD-58D5180F46D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ASSESSMENT ENGINE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6E5B4-7575-4743-BFA0-5AD3EC706D1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A deep assessment catalog creates a repeatable enterprise baseline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8735AC4-B7B8-4427-BC07-1DDBD45A6E8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95D142-45E1-4315-A84C-E428A67D1F4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3BB6A-C05F-4995-8058-6A45237B974B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41150B-B6DE-4D05-9179-7212E26E0A15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8A89"/>
                </a:solidFill>
              </a:defRPr>
            </a:pPr>
            <a:r>
              <a:rPr sz="3300" b="1">
                <a:solidFill>
                  <a:srgbClr val="0B8A89"/>
                </a:solidFill>
              </a:rPr>
              <a:t>49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9E07E-25A5-4207-855D-9DAE84D1348F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guided assessment types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8F421-FE49-44F8-9032-3FBAD058F8CC}"/>
              </a:ext>
            </a:extLst>
          </p:cNvPr>
          <p:cNvSpPr>
            <a:spLocks noGrp="1"/>
          </p:cNvSpPr>
          <p:nvPr/>
        </p:nvSpPr>
        <p:spPr>
          <a:xfrm>
            <a:off x="3429000" y="16192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2B6FA6"/>
                </a:solidFill>
              </a:defRPr>
            </a:pPr>
            <a:r>
              <a:rPr sz="3300" b="1">
                <a:solidFill>
                  <a:srgbClr val="2B6FA6"/>
                </a:solidFill>
              </a:rPr>
              <a:t>32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8EF8DF-D0FA-45AD-AC44-3CBFE72579AA}"/>
              </a:ext>
            </a:extLst>
          </p:cNvPr>
          <p:cNvSpPr>
            <a:spLocks noGrp="1"/>
          </p:cNvSpPr>
          <p:nvPr/>
        </p:nvSpPr>
        <p:spPr>
          <a:xfrm>
            <a:off x="3429000" y="21907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evidence domains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84FD94-13CE-44C7-BF53-0E648E2E9918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E35D5B"/>
                </a:solidFill>
              </a:defRPr>
            </a:pPr>
            <a:r>
              <a:rPr sz="3300" b="1">
                <a:solidFill>
                  <a:srgbClr val="E35D5B"/>
                </a:solidFill>
              </a:rPr>
              <a:t>160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F91016-AD9B-4722-98F0-AC932596BCAA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original control outcomes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19C2FE-BDF1-4077-8A58-FCCA31D07248}"/>
              </a:ext>
            </a:extLst>
          </p:cNvPr>
          <p:cNvSpPr>
            <a:spLocks noGrp="1"/>
          </p:cNvSpPr>
          <p:nvPr/>
        </p:nvSpPr>
        <p:spPr>
          <a:xfrm>
            <a:off x="9429750" y="1619250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2E8B67"/>
                </a:solidFill>
              </a:defRPr>
            </a:pPr>
            <a:r>
              <a:rPr sz="3300" b="1">
                <a:solidFill>
                  <a:srgbClr val="2E8B67"/>
                </a:solidFill>
              </a:rPr>
              <a:t>0–4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5AFC2A-C3F6-4148-907E-57DEB19D4797}"/>
              </a:ext>
            </a:extLst>
          </p:cNvPr>
          <p:cNvSpPr>
            <a:spLocks noGrp="1"/>
          </p:cNvSpPr>
          <p:nvPr/>
        </p:nvSpPr>
        <p:spPr>
          <a:xfrm>
            <a:off x="9429750" y="21907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maturity scale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A22C457-AD3D-465F-A440-D696AACBE3B5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B84624-E827-49B1-8BF9-D05C936DDBDC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Assessment portfolio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0FB578-D31E-44E2-A5DC-4710B486FD3E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ENTERPRISE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088E3C-FB1D-41CE-92DA-C215338DF4DF}"/>
              </a:ext>
            </a:extLst>
          </p:cNvPr>
          <p:cNvSpPr>
            <a:spLocks noGrp="1"/>
          </p:cNvSpPr>
          <p:nvPr/>
        </p:nvSpPr>
        <p:spPr>
          <a:xfrm>
            <a:off x="2238375" y="383857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Maturity • strategy • operating model • portfolio 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1B3286-FF74-4F0B-8F76-C5CBE6F3B43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B6FA6"/>
                </a:solidFill>
              </a:defRPr>
            </a:pPr>
            <a:r>
              <a:rPr sz="900" b="1">
                <a:solidFill>
                  <a:srgbClr val="2B6FA6"/>
                </a:solidFill>
              </a:rPr>
              <a:t>DATA TRUST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44A5BB-9AE2-4B81-89BD-F3DB34182E18}"/>
              </a:ext>
            </a:extLst>
          </p:cNvPr>
          <p:cNvSpPr>
            <a:spLocks noGrp="1"/>
          </p:cNvSpPr>
          <p:nvPr/>
        </p:nvSpPr>
        <p:spPr>
          <a:xfrm>
            <a:off x="2238375" y="424815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Governance • metadata • quality • privacy • security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EE103-DFD4-471F-8458-4FAB259966C4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E8B67"/>
                </a:solidFill>
              </a:defRPr>
            </a:pPr>
            <a:r>
              <a:rPr sz="900" b="1">
                <a:solidFill>
                  <a:srgbClr val="2E8B67"/>
                </a:solidFill>
              </a:rPr>
              <a:t>PLATFORMS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823D4C-21F2-479B-895A-5B43D2BE1319}"/>
              </a:ext>
            </a:extLst>
          </p:cNvPr>
          <p:cNvSpPr>
            <a:spLocks noGrp="1"/>
          </p:cNvSpPr>
          <p:nvPr/>
        </p:nvSpPr>
        <p:spPr>
          <a:xfrm>
            <a:off x="2238375" y="465772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Architecture • engineering • cloud • integration • resilience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42B6DA-54C4-43E6-9E95-2660EF12B718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AI ASSURANCE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AE6730-D9E0-4128-A3C4-49D1735B16E4}"/>
              </a:ext>
            </a:extLst>
          </p:cNvPr>
          <p:cNvSpPr>
            <a:spLocks noGrp="1"/>
          </p:cNvSpPr>
          <p:nvPr/>
        </p:nvSpPr>
        <p:spPr>
          <a:xfrm>
            <a:off x="2238375" y="50673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Models • MLOps • responsible AI • GenAI • RAG • agents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42C15B-4CEA-4591-88A2-75F1915EE4A5}"/>
              </a:ext>
            </a:extLst>
          </p:cNvPr>
          <p:cNvSpPr>
            <a:spLocks noGrp="1"/>
          </p:cNvSpPr>
          <p:nvPr/>
        </p:nvSpPr>
        <p:spPr>
          <a:xfrm>
            <a:off x="685800" y="54959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5A63B"/>
                </a:solidFill>
              </a:defRPr>
            </a:pPr>
            <a:r>
              <a:rPr sz="900" b="1">
                <a:solidFill>
                  <a:srgbClr val="E5A63B"/>
                </a:solidFill>
              </a:rPr>
              <a:t>INDUSTRY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E09599-20B6-4507-AFF7-AA177904D0D4}"/>
              </a:ext>
            </a:extLst>
          </p:cNvPr>
          <p:cNvSpPr>
            <a:spLocks noGrp="1"/>
          </p:cNvSpPr>
          <p:nvPr/>
        </p:nvSpPr>
        <p:spPr>
          <a:xfrm>
            <a:off x="2238375" y="5476875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BCBS 239 • GDPR • healthcare • GxP • public sector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123D57-AD8C-49EC-8E16-2916EDDCB48E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Every weak score becomes an explicit finding; closure is verified through evidence and reassessment.</a:t>
            </a:r>
          </a:p>
        </p:txBody>
      </p:sp>
    </p:spTree>
    <p:extLst>
      <p:ext uri="{BB962C8B-B14F-4D97-AF65-F5344CB8AC3E}">
        <p14:creationId xmlns:p14="http://schemas.microsoft.com/office/powerpoint/2010/main" val="282976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47E98A5-6711-41A3-9FE9-F5E8F2E318B8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AUTOMATED DATA 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301C91-D621-4BA5-A61A-851025F68381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Deterministic profiling turns source data into testable trust signals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E971DBF-1795-4553-A22C-C75DFD5C47F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83CA94-0A1A-440A-B00F-B8EA8EC7E4F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6898E-EC4D-4D7B-AAB0-E4F5C77C549E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B5522F-5192-4FCF-BB63-F89D6E0B359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8A89"/>
                </a:solidFill>
              </a:defRPr>
            </a:pPr>
            <a:r>
              <a:rPr sz="1650" b="1">
                <a:solidFill>
                  <a:srgbClr val="0B8A89"/>
                </a:solidFill>
              </a:rPr>
              <a:t>Data quality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431379-CAAE-4EE1-99CC-3C1D74FDB274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Completeness, duplicates, keys, validity, sentinels, dates and outlier signals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6CE49E-DE7E-443A-A7FC-B623F68E22E8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6FA6"/>
                </a:solidFill>
              </a:defRPr>
            </a:pPr>
            <a:r>
              <a:rPr sz="1650" b="1">
                <a:solidFill>
                  <a:srgbClr val="2B6FA6"/>
                </a:solidFill>
              </a:rPr>
              <a:t>Data contracts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EBD6C-AB5E-426B-8B30-F1E5AFB4E029}"/>
              </a:ext>
            </a:extLst>
          </p:cNvPr>
          <p:cNvSpPr>
            <a:spLocks noGrp="1"/>
          </p:cNvSpPr>
          <p:nvPr/>
        </p:nvSpPr>
        <p:spPr>
          <a:xfrm>
            <a:off x="6191250" y="2047875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Declared grain, keys, types, missingness and producer–consumer readiness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967DFC-992B-4958-A0C4-95386084308E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8A89"/>
                </a:solidFill>
              </a:defRPr>
            </a:pPr>
            <a:r>
              <a:rPr sz="1650" b="1">
                <a:solidFill>
                  <a:srgbClr val="0B8A89"/>
                </a:solidFill>
              </a:rPr>
              <a:t>Sensitive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013AC7-A593-4FE1-9F1D-2CF99D3694CD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Conservative field-name discovery requiring human confirmation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F960FA-BF6E-4D77-8C06-639E657831FA}"/>
              </a:ext>
            </a:extLst>
          </p:cNvPr>
          <p:cNvSpPr>
            <a:spLocks noGrp="1"/>
          </p:cNvSpPr>
          <p:nvPr/>
        </p:nvSpPr>
        <p:spPr>
          <a:xfrm>
            <a:off x="6191250" y="29051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6FA6"/>
                </a:solidFill>
              </a:defRPr>
            </a:pPr>
            <a:r>
              <a:rPr sz="1650" b="1">
                <a:solidFill>
                  <a:srgbClr val="2B6FA6"/>
                </a:solidFill>
              </a:rPr>
              <a:t>Analytics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1B0F77-6A37-41B3-8EDC-2058B22D0861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Population, time coverage, freshness and interpretation risks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0A680-D471-464E-8EB2-3710270ABFE3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8A89"/>
                </a:solidFill>
              </a:defRPr>
            </a:pPr>
            <a:r>
              <a:rPr sz="1650" b="1">
                <a:solidFill>
                  <a:srgbClr val="0B8A89"/>
                </a:solidFill>
              </a:rPr>
              <a:t>ML readiness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A4CB51-7B60-4C00-B5C8-885B44CDCC2F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Identifier-like fields, missingness, outliers and leakage signals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47E97F-0620-45EA-A8EB-EAD20537FF87}"/>
              </a:ext>
            </a:extLst>
          </p:cNvPr>
          <p:cNvSpPr>
            <a:spLocks noGrp="1"/>
          </p:cNvSpPr>
          <p:nvPr/>
        </p:nvSpPr>
        <p:spPr>
          <a:xfrm>
            <a:off x="6191250" y="41910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6FA6"/>
                </a:solidFill>
              </a:defRPr>
            </a:pPr>
            <a:r>
              <a:rPr sz="1650" b="1">
                <a:solidFill>
                  <a:srgbClr val="2B6FA6"/>
                </a:solidFill>
              </a:rPr>
              <a:t>Freshness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3C0B4-CBE7-422D-9BE7-68DD0801D2C1}"/>
              </a:ext>
            </a:extLst>
          </p:cNvPr>
          <p:cNvSpPr>
            <a:spLocks noGrp="1"/>
          </p:cNvSpPr>
          <p:nvPr/>
        </p:nvSpPr>
        <p:spPr>
          <a:xfrm>
            <a:off x="6191250" y="4619625"/>
            <a:ext cx="476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Latest-observation and inferred time-coverage checks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61DD43E-275E-4E33-8AA2-6F3C03E68A22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FDFB47-49B7-4F4A-AC25-76AE750FB432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35D5B"/>
                </a:solidFill>
              </a:defRPr>
            </a:pPr>
            <a:r>
              <a:rPr sz="1050" b="1">
                <a:solidFill>
                  <a:srgbClr val="E35D5B"/>
                </a:solidFill>
              </a:rPr>
              <a:t>Built-in guardrail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B7476E-065F-4AB3-B41F-087768CCA0E5}"/>
              </a:ext>
            </a:extLst>
          </p:cNvPr>
          <p:cNvSpPr>
            <a:spLocks noGrp="1"/>
          </p:cNvSpPr>
          <p:nvPr/>
        </p:nvSpPr>
        <p:spPr>
          <a:xfrm>
            <a:off x="2381250" y="5762625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2038"/>
                </a:solidFill>
              </a:defRPr>
            </a:pPr>
            <a:r>
              <a:rPr sz="1425" b="1">
                <a:solidFill>
                  <a:srgbClr val="0B2038"/>
                </a:solidFill>
              </a:rPr>
              <a:t>The engine profiles at most 5,000 rows × 250 columns and never writes to the source; accuracy still requires a trusted reference.</a:t>
            </a:r>
          </a:p>
        </p:txBody>
      </p:sp>
    </p:spTree>
    <p:extLst>
      <p:ext uri="{BB962C8B-B14F-4D97-AF65-F5344CB8AC3E}">
        <p14:creationId xmlns:p14="http://schemas.microsoft.com/office/powerpoint/2010/main" val="121574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BF069D7-81AA-49C0-935C-58BB5E9100A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SOLUTION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58FD1D-6A54-45BB-A3CB-56EF934EFBD8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The architecture separates local analysis, governed evidence and optional AI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47C6598-34B0-40E3-98D1-875B73E8D32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082610-A93C-4C3A-A59D-0E2FA202620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D83C0-FE0A-4B1A-BAC1-F3CA78DAF368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757092-65F5-4924-913D-CCEACD5BF328}"/>
              </a:ext>
            </a:extLst>
          </p:cNvPr>
          <p:cNvSpPr>
            <a:spLocks noGrp="1"/>
          </p:cNvSpPr>
          <p:nvPr/>
        </p:nvSpPr>
        <p:spPr>
          <a:xfrm>
            <a:off x="523875" y="2428875"/>
            <a:ext cx="1714500" cy="1190625"/>
          </a:xfrm>
          <a:prstGeom prst="roundRect">
            <a:avLst>
              <a:gd name="adj" fmla="val 8000"/>
            </a:avLst>
          </a:prstGeom>
          <a:solidFill>
            <a:srgbClr val="E8F0F7"/>
          </a:solidFill>
          <a:ln w="9525">
            <a:solidFill>
              <a:srgbClr val="2B6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9CD171-3F51-4261-B125-ED90708111C7}"/>
              </a:ext>
            </a:extLst>
          </p:cNvPr>
          <p:cNvSpPr>
            <a:spLocks noGrp="1"/>
          </p:cNvSpPr>
          <p:nvPr/>
        </p:nvSpPr>
        <p:spPr>
          <a:xfrm>
            <a:off x="657225" y="2562225"/>
            <a:ext cx="1447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Leaders &amp; teams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E9E86-3BE5-4FE1-B122-9496B55D3D4F}"/>
              </a:ext>
            </a:extLst>
          </p:cNvPr>
          <p:cNvSpPr>
            <a:spLocks noGrp="1"/>
          </p:cNvSpPr>
          <p:nvPr/>
        </p:nvSpPr>
        <p:spPr>
          <a:xfrm>
            <a:off x="638175" y="3000375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CDAIO • stewards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engineers • risk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3DE4D9-66C0-4CFB-A232-4B1F61C8BAA8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2095500" cy="20478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0B8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379F92-411A-4F1C-9E46-12C1CA68A028}"/>
              </a:ext>
            </a:extLst>
          </p:cNvPr>
          <p:cNvSpPr>
            <a:spLocks noGrp="1"/>
          </p:cNvSpPr>
          <p:nvPr/>
        </p:nvSpPr>
        <p:spPr>
          <a:xfrm>
            <a:off x="2705100" y="2133600"/>
            <a:ext cx="182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Local application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9F0FB2-0520-4982-A111-D8007D86713E}"/>
              </a:ext>
            </a:extLst>
          </p:cNvPr>
          <p:cNvSpPr>
            <a:spLocks noGrp="1"/>
          </p:cNvSpPr>
          <p:nvPr/>
        </p:nvSpPr>
        <p:spPr>
          <a:xfrm>
            <a:off x="2686050" y="2571750"/>
            <a:ext cx="18669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Executive cockpit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assessment center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data profiler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portfolio views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EC231-FF30-4415-98F8-43572980D0D9}"/>
              </a:ext>
            </a:extLst>
          </p:cNvPr>
          <p:cNvSpPr>
            <a:spLocks noGrp="1"/>
          </p:cNvSpPr>
          <p:nvPr/>
        </p:nvSpPr>
        <p:spPr>
          <a:xfrm>
            <a:off x="5048250" y="1666875"/>
            <a:ext cx="2190750" cy="2714625"/>
          </a:xfrm>
          <a:prstGeom prst="roundRect">
            <a:avLst>
              <a:gd name="adj" fmla="val 4348"/>
            </a:avLst>
          </a:prstGeom>
          <a:solidFill>
            <a:srgbClr val="E4F3F2"/>
          </a:solidFill>
          <a:ln w="9525">
            <a:solidFill>
              <a:srgbClr val="0B8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9A296-E484-4D9C-89ED-F3323E186E0C}"/>
              </a:ext>
            </a:extLst>
          </p:cNvPr>
          <p:cNvSpPr>
            <a:spLocks noGrp="1"/>
          </p:cNvSpPr>
          <p:nvPr/>
        </p:nvSpPr>
        <p:spPr>
          <a:xfrm>
            <a:off x="5181600" y="1800225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Evidence services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BD9786-D735-49F6-BB0D-BCDAA8BEA682}"/>
              </a:ext>
            </a:extLst>
          </p:cNvPr>
          <p:cNvSpPr>
            <a:spLocks noGrp="1"/>
          </p:cNvSpPr>
          <p:nvPr/>
        </p:nvSpPr>
        <p:spPr>
          <a:xfrm>
            <a:off x="5162550" y="2238375"/>
            <a:ext cx="19621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File / folder / repo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CSV / JSON / SQLite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approved APIs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query gateway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1D9B136-8DE7-421E-8478-63B62C1875F3}"/>
              </a:ext>
            </a:extLst>
          </p:cNvPr>
          <p:cNvSpPr>
            <a:spLocks noGrp="1"/>
          </p:cNvSpPr>
          <p:nvPr/>
        </p:nvSpPr>
        <p:spPr>
          <a:xfrm>
            <a:off x="7620000" y="2000250"/>
            <a:ext cx="1809750" cy="2047875"/>
          </a:xfrm>
          <a:prstGeom prst="roundRect">
            <a:avLst>
              <a:gd name="adj" fmla="val 5263"/>
            </a:avLst>
          </a:prstGeom>
          <a:solidFill>
            <a:srgbClr val="F5F7F8"/>
          </a:solidFill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B1AA21-D86C-46CF-AA7C-96845E403072}"/>
              </a:ext>
            </a:extLst>
          </p:cNvPr>
          <p:cNvSpPr>
            <a:spLocks noGrp="1"/>
          </p:cNvSpPr>
          <p:nvPr/>
        </p:nvSpPr>
        <p:spPr>
          <a:xfrm>
            <a:off x="7753350" y="2133600"/>
            <a:ext cx="1543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Local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A58905-71EC-4955-BC08-47765D4F2F84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15811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Organization context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assessment records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source lineage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B0E16C1-4E45-4AC3-9B87-E1C1DDA5DF60}"/>
              </a:ext>
            </a:extLst>
          </p:cNvPr>
          <p:cNvSpPr>
            <a:spLocks noGrp="1"/>
          </p:cNvSpPr>
          <p:nvPr/>
        </p:nvSpPr>
        <p:spPr>
          <a:xfrm>
            <a:off x="9810750" y="2428875"/>
            <a:ext cx="1714500" cy="1190625"/>
          </a:xfrm>
          <a:prstGeom prst="roundRect">
            <a:avLst>
              <a:gd name="adj" fmla="val 8000"/>
            </a:avLst>
          </a:prstGeom>
          <a:solidFill>
            <a:srgbClr val="FCE9E8"/>
          </a:solidFill>
          <a:ln w="9525">
            <a:solidFill>
              <a:srgbClr val="E35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2C042F-098C-4D69-937E-68FF7B785E2A}"/>
              </a:ext>
            </a:extLst>
          </p:cNvPr>
          <p:cNvSpPr>
            <a:spLocks noGrp="1"/>
          </p:cNvSpPr>
          <p:nvPr/>
        </p:nvSpPr>
        <p:spPr>
          <a:xfrm>
            <a:off x="9944100" y="2562225"/>
            <a:ext cx="1447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Optional AI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C8C766-C39A-47EA-9629-A66E3EECF693}"/>
              </a:ext>
            </a:extLst>
          </p:cNvPr>
          <p:cNvSpPr>
            <a:spLocks noGrp="1"/>
          </p:cNvSpPr>
          <p:nvPr/>
        </p:nvSpPr>
        <p:spPr>
          <a:xfrm>
            <a:off x="9925050" y="3000375"/>
            <a:ext cx="1485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Claude narrative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and advisor layer</a:t>
            </a:r>
          </a:p>
        </p:txBody>
      </p:sp>
      <p:cxnSp>
        <p:nvCxnSpPr>
          <p:cNvPr id="48" name="Straight Arrow Connector 47"/>
          <p:cNvCxnSpPr>
            <a:stCxn id="6" idx="3"/>
            <a:endCxn id="9" idx="1"/>
          </p:cNvCxnSpPr>
          <p:nvPr/>
        </p:nvCxnSpPr>
        <p:spPr>
          <a:xfrm>
            <a:off x="2238375" y="3024188"/>
            <a:ext cx="333375" cy="0"/>
          </a:xfrm>
          <a:prstGeom prst="straightConnector1">
            <a:avLst/>
          </a:prstGeom>
          <a:ln w="19050">
            <a:solidFill>
              <a:srgbClr val="2B6FA6"/>
            </a:solidFill>
            <a:prstDash val="solid"/>
            <a:headEnd type="triangle" w="sm" len="sm"/>
          </a:ln>
        </p:spPr>
      </p:cxnSp>
      <p:cxnSp>
        <p:nvCxnSpPr>
          <p:cNvPr id="49" name="Straight Arrow Connector 48"/>
          <p:cNvCxnSpPr>
            <a:stCxn id="9" idx="3"/>
            <a:endCxn id="12" idx="1"/>
          </p:cNvCxnSpPr>
          <p:nvPr/>
        </p:nvCxnSpPr>
        <p:spPr>
          <a:xfrm>
            <a:off x="4667250" y="3024188"/>
            <a:ext cx="381000" cy="0"/>
          </a:xfrm>
          <a:prstGeom prst="straightConnector1">
            <a:avLst/>
          </a:prstGeom>
          <a:ln w="19050">
            <a:solidFill>
              <a:srgbClr val="0B8A89"/>
            </a:solidFill>
            <a:prstDash val="solid"/>
            <a:headEnd type="triangle" w="sm" len="sm"/>
          </a:ln>
        </p:spPr>
      </p:cxnSp>
      <p:cxnSp>
        <p:nvCxnSpPr>
          <p:cNvPr id="50" name="Straight Arrow Connector 49"/>
          <p:cNvCxnSpPr>
            <a:stCxn id="12" idx="3"/>
            <a:endCxn id="15" idx="1"/>
          </p:cNvCxnSpPr>
          <p:nvPr/>
        </p:nvCxnSpPr>
        <p:spPr>
          <a:xfrm>
            <a:off x="7239000" y="3024188"/>
            <a:ext cx="381000" cy="0"/>
          </a:xfrm>
          <a:prstGeom prst="straightConnector1">
            <a:avLst/>
          </a:prstGeom>
          <a:ln w="19050">
            <a:solidFill>
              <a:srgbClr val="0B8A89"/>
            </a:solidFill>
            <a:prstDash val="solid"/>
            <a:headEnd type="triangle" w="sm" len="sm"/>
          </a:ln>
        </p:spPr>
      </p:cxnSp>
      <p:cxnSp>
        <p:nvCxnSpPr>
          <p:cNvPr id="51" name="Straight Arrow Connector 50"/>
          <p:cNvCxnSpPr>
            <a:stCxn id="15" idx="3"/>
            <a:endCxn id="18" idx="1"/>
          </p:cNvCxnSpPr>
          <p:nvPr/>
        </p:nvCxnSpPr>
        <p:spPr>
          <a:xfrm>
            <a:off x="9429750" y="3024188"/>
            <a:ext cx="381000" cy="0"/>
          </a:xfrm>
          <a:prstGeom prst="straightConnector1">
            <a:avLst/>
          </a:prstGeom>
          <a:ln w="19050">
            <a:solidFill>
              <a:srgbClr val="E35D5B"/>
            </a:solidFill>
            <a:prstDash val="solid"/>
            <a:headEnd type="triangle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E801FD1-B794-42CC-978B-451AA3AF7498}"/>
              </a:ext>
            </a:extLst>
          </p:cNvPr>
          <p:cNvSpPr>
            <a:spLocks noGrp="1"/>
          </p:cNvSpPr>
          <p:nvPr/>
        </p:nvSpPr>
        <p:spPr>
          <a:xfrm>
            <a:off x="685800" y="49053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B8A89"/>
                </a:solidFill>
              </a:defRPr>
            </a:pPr>
            <a:r>
              <a:rPr sz="1050" b="1">
                <a:solidFill>
                  <a:srgbClr val="0B8A89"/>
                </a:solidFill>
              </a:rPr>
              <a:t>Trust boundary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211AEEB-DE16-4CC8-8F33-17FD04F9E451}"/>
              </a:ext>
            </a:extLst>
          </p:cNvPr>
          <p:cNvSpPr>
            <a:spLocks noGrp="1"/>
          </p:cNvSpPr>
          <p:nvPr/>
        </p:nvSpPr>
        <p:spPr>
          <a:xfrm>
            <a:off x="2000250" y="5019675"/>
            <a:ext cx="9334500" cy="9525"/>
          </a:xfrm>
          <a:prstGeom prst="line">
            <a:avLst/>
          </a:prstGeom>
          <a:noFill/>
          <a:ln w="19050">
            <a:solidFill>
              <a:srgbClr val="0B8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3D86A5-A3E6-4B4F-93FA-BB00046BFC57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Use an enterprise-owned HTTPS query gateway for governed, read-only access to production data platforms and warehouses.</a:t>
            </a:r>
          </a:p>
        </p:txBody>
      </p:sp>
    </p:spTree>
    <p:extLst>
      <p:ext uri="{BB962C8B-B14F-4D97-AF65-F5344CB8AC3E}">
        <p14:creationId xmlns:p14="http://schemas.microsoft.com/office/powerpoint/2010/main" val="439168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89A5DE3-A6A4-4E5C-9813-9989ADF4C9A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DATA INTEGRATION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0FED97-1A30-46EB-A475-0CC8183336AE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The connection model supports refresh without embedding broad credentials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E21E554-CFDA-40D7-BA1F-E4F499CA4E2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76A508-D01E-40A0-9658-3C066B2061FC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15D93-8288-4E5C-89EE-DB3D8503D6D2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E5F439-C874-4506-A122-88C1B3DCFE8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Source patterns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C5953A-5FA7-4CDA-8A3E-7C27E267D474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F4DBD-3CA9-4F10-BD69-677E8690C293}"/>
              </a:ext>
            </a:extLst>
          </p:cNvPr>
          <p:cNvSpPr>
            <a:spLocks noGrp="1"/>
          </p:cNvSpPr>
          <p:nvPr/>
        </p:nvSpPr>
        <p:spPr>
          <a:xfrm>
            <a:off x="971550" y="19716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Structured files: CSV, JSON, JSONL, NDJSON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00D1BD-DEF8-4F7B-A811-F0964586A7D4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6FDDC9-F826-40F6-8041-1053194B09C7}"/>
              </a:ext>
            </a:extLst>
          </p:cNvPr>
          <p:cNvSpPr>
            <a:spLocks noGrp="1"/>
          </p:cNvSpPr>
          <p:nvPr/>
        </p:nvSpPr>
        <p:spPr>
          <a:xfrm>
            <a:off x="971550" y="249555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Local evidence folders and repositories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26CDA0-D696-43BB-BDD4-6F422E9B482C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0A7FE1-1A91-4A6B-9938-A769DE0F87A9}"/>
              </a:ext>
            </a:extLst>
          </p:cNvPr>
          <p:cNvSpPr>
            <a:spLocks noGrp="1"/>
          </p:cNvSpPr>
          <p:nvPr/>
        </p:nvSpPr>
        <p:spPr>
          <a:xfrm>
            <a:off x="971550" y="301942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Read-only SQLite SELECT / WITH / PRAGMA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16DC7C-F626-406D-AD89-7669F5F1BAD2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4EC839-5BB7-4FCA-B19A-DBCA20ED2FF9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REST / JSON APIs and governed query gateways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9CA2FC-D6B2-4791-9E19-38A906549A24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35D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0284EE-5729-4E51-A0B0-4BF8CFCC5C81}"/>
              </a:ext>
            </a:extLst>
          </p:cNvPr>
          <p:cNvSpPr>
            <a:spLocks noGrp="1"/>
          </p:cNvSpPr>
          <p:nvPr/>
        </p:nvSpPr>
        <p:spPr>
          <a:xfrm>
            <a:off x="971550" y="406717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Catalog, quality, orchestration, GRC and cloud APIs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DEA8C42-2F61-4BE3-8FB9-058C05BD5A01}"/>
              </a:ext>
            </a:extLst>
          </p:cNvPr>
          <p:cNvSpPr>
            <a:spLocks noGrp="1"/>
          </p:cNvSpPr>
          <p:nvPr/>
        </p:nvSpPr>
        <p:spPr>
          <a:xfrm>
            <a:off x="5810250" y="1571625"/>
            <a:ext cx="9525" cy="37147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9EA523-E8BA-4CC9-8796-BB175F86AC26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Enterprise control pattern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EC5597-3239-40F0-B940-DFC7BF05B4C3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GATEWAY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3D8FC1-A774-4B99-9A49-CB0DF19D82E0}"/>
              </a:ext>
            </a:extLst>
          </p:cNvPr>
          <p:cNvSpPr>
            <a:spLocks noGrp="1"/>
          </p:cNvSpPr>
          <p:nvPr/>
        </p:nvSpPr>
        <p:spPr>
          <a:xfrm>
            <a:off x="7524750" y="206692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Credentials stay in enterprise secret management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616A05-B26D-47BD-8B83-4DEE14F2FACC}"/>
              </a:ext>
            </a:extLst>
          </p:cNvPr>
          <p:cNvSpPr>
            <a:spLocks noGrp="1"/>
          </p:cNvSpPr>
          <p:nvPr/>
        </p:nvSpPr>
        <p:spPr>
          <a:xfrm>
            <a:off x="6238875" y="26860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POLICY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37743E-7B91-41E1-9071-1B76650F5567}"/>
              </a:ext>
            </a:extLst>
          </p:cNvPr>
          <p:cNvSpPr>
            <a:spLocks noGrp="1"/>
          </p:cNvSpPr>
          <p:nvPr/>
        </p:nvSpPr>
        <p:spPr>
          <a:xfrm>
            <a:off x="7524750" y="265747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Allowlisted views, queries, rows and columns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FD59D8-E47A-4319-8FB4-83AAF16F29E2}"/>
              </a:ext>
            </a:extLst>
          </p:cNvPr>
          <p:cNvSpPr>
            <a:spLocks noGrp="1"/>
          </p:cNvSpPr>
          <p:nvPr/>
        </p:nvSpPr>
        <p:spPr>
          <a:xfrm>
            <a:off x="6238875" y="32766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OPERATIONS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484A48-B834-4F1A-A591-41D28D2CF490}"/>
              </a:ext>
            </a:extLst>
          </p:cNvPr>
          <p:cNvSpPr>
            <a:spLocks noGrp="1"/>
          </p:cNvSpPr>
          <p:nvPr/>
        </p:nvSpPr>
        <p:spPr>
          <a:xfrm>
            <a:off x="7524750" y="324802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Limits, throttling, monitoring and replay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A8F458-6FE9-4A8D-A085-C66C53A3859A}"/>
              </a:ext>
            </a:extLst>
          </p:cNvPr>
          <p:cNvSpPr>
            <a:spLocks noGrp="1"/>
          </p:cNvSpPr>
          <p:nvPr/>
        </p:nvSpPr>
        <p:spPr>
          <a:xfrm>
            <a:off x="6238875" y="38671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LINEAGE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0D771E-1B5E-4F2F-9FD8-82D0CE14EFD5}"/>
              </a:ext>
            </a:extLst>
          </p:cNvPr>
          <p:cNvSpPr>
            <a:spLocks noGrp="1"/>
          </p:cNvSpPr>
          <p:nvPr/>
        </p:nvSpPr>
        <p:spPr>
          <a:xfrm>
            <a:off x="7524750" y="383857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Source, query, timestamp and evidence ID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3F105E-94FE-4D71-8FAB-3C4981A1CACB}"/>
              </a:ext>
            </a:extLst>
          </p:cNvPr>
          <p:cNvSpPr>
            <a:spLocks noGrp="1"/>
          </p:cNvSpPr>
          <p:nvPr/>
        </p:nvSpPr>
        <p:spPr>
          <a:xfrm>
            <a:off x="6238875" y="4457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VALIDATION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C89596-6A8B-4F9F-B043-F4F94362CC21}"/>
              </a:ext>
            </a:extLst>
          </p:cNvPr>
          <p:cNvSpPr>
            <a:spLocks noGrp="1"/>
          </p:cNvSpPr>
          <p:nvPr/>
        </p:nvSpPr>
        <p:spPr>
          <a:xfrm>
            <a:off x="7524750" y="442912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Reconcile counts, periods, units and mappings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39AD1F-0AD2-4065-BC30-81E0E4AE6E66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Connection broadens evidence access; it does not remove the need for data-owner approval and assessor judgment.</a:t>
            </a:r>
          </a:p>
        </p:txBody>
      </p:sp>
    </p:spTree>
    <p:extLst>
      <p:ext uri="{BB962C8B-B14F-4D97-AF65-F5344CB8AC3E}">
        <p14:creationId xmlns:p14="http://schemas.microsoft.com/office/powerpoint/2010/main" val="49501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95D5204-931A-49E9-9764-974D8E69BC9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AI ASSURANCE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8DFE73-2A0D-44A7-ACDB-4A623953E5D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AI and agentic-AI governance are built into the management model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4A60A91-9F45-419F-943F-A3FF53C5368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71F878-8E04-4755-B506-76F02C26FAD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62639E-EE62-4D59-9878-19E7EB1DD169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063372-EF01-4ACC-937A-36C11CE5E42A}"/>
              </a:ext>
            </a:extLst>
          </p:cNvPr>
          <p:cNvSpPr>
            <a:spLocks noGrp="1"/>
          </p:cNvSpPr>
          <p:nvPr/>
        </p:nvSpPr>
        <p:spPr>
          <a:xfrm>
            <a:off x="666750" y="16478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41F0E-61BA-4C03-8852-6C3E8FDB323F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9B9D70-0312-41B7-9517-B8BEB97AA076}"/>
              </a:ext>
            </a:extLst>
          </p:cNvPr>
          <p:cNvSpPr>
            <a:spLocks noGrp="1"/>
          </p:cNvSpPr>
          <p:nvPr/>
        </p:nvSpPr>
        <p:spPr>
          <a:xfrm>
            <a:off x="1333500" y="164782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Portfolio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F9A9EC-E293-4367-95FA-CABDE7D2371D}"/>
              </a:ext>
            </a:extLst>
          </p:cNvPr>
          <p:cNvSpPr>
            <a:spLocks noGrp="1"/>
          </p:cNvSpPr>
          <p:nvPr/>
        </p:nvSpPr>
        <p:spPr>
          <a:xfrm>
            <a:off x="3714750" y="164782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180"/>
                </a:solidFill>
              </a:defRPr>
            </a:pPr>
            <a:r>
              <a:rPr sz="1350" b="0">
                <a:solidFill>
                  <a:srgbClr val="5F7180"/>
                </a:solidFill>
              </a:rPr>
              <a:t>Inventory, purpose, owner, value, risk tier and lifecycle state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3FED68-2CF9-47D6-840E-04A9BE96F306}"/>
              </a:ext>
            </a:extLst>
          </p:cNvPr>
          <p:cNvSpPr>
            <a:spLocks noGrp="1"/>
          </p:cNvSpPr>
          <p:nvPr/>
        </p:nvSpPr>
        <p:spPr>
          <a:xfrm>
            <a:off x="666750" y="26003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B6FA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E17F0F-4235-4F6D-8777-AA61D7C331D0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77F3F6-8FD2-41BC-AA60-76A8D7765DCD}"/>
              </a:ext>
            </a:extLst>
          </p:cNvPr>
          <p:cNvSpPr>
            <a:spLocks noGrp="1"/>
          </p:cNvSpPr>
          <p:nvPr/>
        </p:nvSpPr>
        <p:spPr>
          <a:xfrm>
            <a:off x="1333500" y="260032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Model / GenAI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A2F72-F329-4191-AAAB-587B9B23EC7D}"/>
              </a:ext>
            </a:extLst>
          </p:cNvPr>
          <p:cNvSpPr>
            <a:spLocks noGrp="1"/>
          </p:cNvSpPr>
          <p:nvPr/>
        </p:nvSpPr>
        <p:spPr>
          <a:xfrm>
            <a:off x="3714750" y="260032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180"/>
                </a:solidFill>
              </a:defRPr>
            </a:pPr>
            <a:r>
              <a:rPr sz="1350" b="0">
                <a:solidFill>
                  <a:srgbClr val="5F7180"/>
                </a:solidFill>
              </a:rPr>
              <a:t>Validation, evaluation, transparency, monitoring and human oversight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71321F-6B43-4D5E-B548-3887FE7C2F1D}"/>
              </a:ext>
            </a:extLst>
          </p:cNvPr>
          <p:cNvSpPr>
            <a:spLocks noGrp="1"/>
          </p:cNvSpPr>
          <p:nvPr/>
        </p:nvSpPr>
        <p:spPr>
          <a:xfrm>
            <a:off x="666750" y="35528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35D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2E8852-6357-498F-ADEF-602AC132CFB8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CF39C3-A97E-4755-AE95-0FFCDEA8B9C0}"/>
              </a:ext>
            </a:extLst>
          </p:cNvPr>
          <p:cNvSpPr>
            <a:spLocks noGrp="1"/>
          </p:cNvSpPr>
          <p:nvPr/>
        </p:nvSpPr>
        <p:spPr>
          <a:xfrm>
            <a:off x="1333500" y="355282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RAG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65F684-7BF7-4F55-9540-76C1D368A305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180"/>
                </a:solidFill>
              </a:defRPr>
            </a:pPr>
            <a:r>
              <a:rPr sz="1350" b="0">
                <a:solidFill>
                  <a:srgbClr val="5F7180"/>
                </a:solidFill>
              </a:rPr>
              <a:t>Corpus trust, ingestion, access, retrieval quality, citation and deletion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4EF7433-C073-423B-BF39-27863A6F514B}"/>
              </a:ext>
            </a:extLst>
          </p:cNvPr>
          <p:cNvSpPr>
            <a:spLocks noGrp="1"/>
          </p:cNvSpPr>
          <p:nvPr/>
        </p:nvSpPr>
        <p:spPr>
          <a:xfrm>
            <a:off x="666750" y="45053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5A63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530B7B-5B31-40BF-822C-13EE3685A0C3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9FFF47-6844-4BF4-A7D5-E42453ED8B14}"/>
              </a:ext>
            </a:extLst>
          </p:cNvPr>
          <p:cNvSpPr>
            <a:spLocks noGrp="1"/>
          </p:cNvSpPr>
          <p:nvPr/>
        </p:nvSpPr>
        <p:spPr>
          <a:xfrm>
            <a:off x="1333500" y="450532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Agent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E82A45-4A69-40C4-B04F-0DC610C0F02B}"/>
              </a:ext>
            </a:extLst>
          </p:cNvPr>
          <p:cNvSpPr>
            <a:spLocks noGrp="1"/>
          </p:cNvSpPr>
          <p:nvPr/>
        </p:nvSpPr>
        <p:spPr>
          <a:xfrm>
            <a:off x="3714750" y="450532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180"/>
                </a:solidFill>
              </a:defRPr>
            </a:pPr>
            <a:r>
              <a:rPr sz="1350" b="0">
                <a:solidFill>
                  <a:srgbClr val="5F7180"/>
                </a:solidFill>
              </a:rPr>
              <a:t>Goals, tools, identity, memory, delegation, actions, traces and kill switches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3982EE28-4EC4-4751-A2C1-97A884342862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4EA379-B09B-4F83-8116-65567D5879C8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35D5B"/>
                </a:solidFill>
              </a:defRPr>
            </a:pPr>
            <a:r>
              <a:rPr sz="1050" b="1">
                <a:solidFill>
                  <a:srgbClr val="E35D5B"/>
                </a:solidFill>
              </a:rPr>
              <a:t>Management principle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FDBA36-9399-4D7B-B489-154072097474}"/>
              </a:ext>
            </a:extLst>
          </p:cNvPr>
          <p:cNvSpPr>
            <a:spLocks noGrp="1"/>
          </p:cNvSpPr>
          <p:nvPr/>
        </p:nvSpPr>
        <p:spPr>
          <a:xfrm>
            <a:off x="2571750" y="58102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B2038"/>
                </a:solidFill>
              </a:defRPr>
            </a:pPr>
            <a:r>
              <a:rPr sz="1425" b="1">
                <a:solidFill>
                  <a:srgbClr val="0B2038"/>
                </a:solidFill>
              </a:rPr>
              <a:t>Autonomy increases the need for least authority, approval gates, complete traces, rollback and accountable business ownership.</a:t>
            </a:r>
          </a:p>
        </p:txBody>
      </p:sp>
    </p:spTree>
    <p:extLst>
      <p:ext uri="{BB962C8B-B14F-4D97-AF65-F5344CB8AC3E}">
        <p14:creationId xmlns:p14="http://schemas.microsoft.com/office/powerpoint/2010/main" val="311355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92FA1E4-5E53-4715-919F-51E7995A2FF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MANAGEMENT COCKPIT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08CCC0-388B-47BE-8137-2BF2AAE2D6A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The executive cockpit links maturity, trust, portfolio and value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B3D4176-9AA5-42F8-93E3-4D5322F573E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98FECE-F63C-4610-90D6-2ADF256C1F4C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F3A76-5F86-4C73-9F56-0732F09302D7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25FED-D846-472C-B1FC-3D618B75F67D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8A89"/>
                </a:solidFill>
              </a:defRPr>
            </a:pPr>
            <a:r>
              <a:rPr sz="1650" b="1">
                <a:solidFill>
                  <a:srgbClr val="0B8A89"/>
                </a:solidFill>
              </a:rPr>
              <a:t>Strategic progress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79802-3F0A-42C0-9DD9-1A336E4563FF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Roadmap outcomes, adoption and benefit realization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80FE4B2-8C3B-4D37-B800-F1FC52979779}"/>
              </a:ext>
            </a:extLst>
          </p:cNvPr>
          <p:cNvSpPr>
            <a:spLocks noGrp="1"/>
          </p:cNvSpPr>
          <p:nvPr/>
        </p:nvSpPr>
        <p:spPr>
          <a:xfrm>
            <a:off x="4019550" y="17621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E5783-37D9-411D-9498-302297BB37BE}"/>
              </a:ext>
            </a:extLst>
          </p:cNvPr>
          <p:cNvSpPr>
            <a:spLocks noGrp="1"/>
          </p:cNvSpPr>
          <p:nvPr/>
        </p:nvSpPr>
        <p:spPr>
          <a:xfrm>
            <a:off x="4438650" y="17621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6FA6"/>
                </a:solidFill>
              </a:defRPr>
            </a:pPr>
            <a:r>
              <a:rPr sz="1650" b="1">
                <a:solidFill>
                  <a:srgbClr val="2B6FA6"/>
                </a:solidFill>
              </a:rPr>
              <a:t>Data trust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6AF8A-DA2B-46F1-B15E-E97549B2C95B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Quality, ownership, lineage, freshness and issue closure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9CD6CAE-FE06-4BF4-8FD3-0DDBC17FDF0B}"/>
              </a:ext>
            </a:extLst>
          </p:cNvPr>
          <p:cNvSpPr>
            <a:spLocks noGrp="1"/>
          </p:cNvSpPr>
          <p:nvPr/>
        </p:nvSpPr>
        <p:spPr>
          <a:xfrm>
            <a:off x="7772400" y="17621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8D960-3325-44E2-B8D5-BB2DD84A848C}"/>
              </a:ext>
            </a:extLst>
          </p:cNvPr>
          <p:cNvSpPr>
            <a:spLocks noGrp="1"/>
          </p:cNvSpPr>
          <p:nvPr/>
        </p:nvSpPr>
        <p:spPr>
          <a:xfrm>
            <a:off x="8191500" y="17621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E35D5B"/>
                </a:solidFill>
              </a:defRPr>
            </a:pPr>
            <a:r>
              <a:rPr sz="1650" b="1">
                <a:solidFill>
                  <a:srgbClr val="E35D5B"/>
                </a:solidFill>
              </a:rPr>
              <a:t>Delivery health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F8C380-EA31-4843-A734-32C1214FF0D2}"/>
              </a:ext>
            </a:extLst>
          </p:cNvPr>
          <p:cNvSpPr>
            <a:spLocks noGrp="1"/>
          </p:cNvSpPr>
          <p:nvPr/>
        </p:nvSpPr>
        <p:spPr>
          <a:xfrm>
            <a:off x="8191500" y="22860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Pipeline reliability, platform resilience and unit economics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BD4172-EEEF-43DE-8068-CC7859F1A1EA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8A89"/>
                </a:solidFill>
              </a:defRPr>
            </a:pPr>
            <a:r>
              <a:rPr sz="1650" b="1">
                <a:solidFill>
                  <a:srgbClr val="0B8A89"/>
                </a:solidFill>
              </a:rPr>
              <a:t>AI portfolio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372AA5-2EA1-46E7-AAF8-4D715B9CFE8D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Production models and agents by value, risk and lifecycle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D0F8AFA-4A29-4AC2-A744-9D33467D93D5}"/>
              </a:ext>
            </a:extLst>
          </p:cNvPr>
          <p:cNvSpPr>
            <a:spLocks noGrp="1"/>
          </p:cNvSpPr>
          <p:nvPr/>
        </p:nvSpPr>
        <p:spPr>
          <a:xfrm>
            <a:off x="4019550" y="38576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FB9FEA-0475-43EF-B260-0AC7137A0E6A}"/>
              </a:ext>
            </a:extLst>
          </p:cNvPr>
          <p:cNvSpPr>
            <a:spLocks noGrp="1"/>
          </p:cNvSpPr>
          <p:nvPr/>
        </p:nvSpPr>
        <p:spPr>
          <a:xfrm>
            <a:off x="4438650" y="38576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6FA6"/>
                </a:solidFill>
              </a:defRPr>
            </a:pPr>
            <a:r>
              <a:rPr sz="1650" b="1">
                <a:solidFill>
                  <a:srgbClr val="2B6FA6"/>
                </a:solidFill>
              </a:rPr>
              <a:t>Governance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A8C0D3-C145-4073-9341-D9F44D358E06}"/>
              </a:ext>
            </a:extLst>
          </p:cNvPr>
          <p:cNvSpPr>
            <a:spLocks noGrp="1"/>
          </p:cNvSpPr>
          <p:nvPr/>
        </p:nvSpPr>
        <p:spPr>
          <a:xfrm>
            <a:off x="4438650" y="43815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Assessment gaps, findings, exceptions and reassessment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F92E81F-309D-4FFE-A009-7481B0EC802D}"/>
              </a:ext>
            </a:extLst>
          </p:cNvPr>
          <p:cNvSpPr>
            <a:spLocks noGrp="1"/>
          </p:cNvSpPr>
          <p:nvPr/>
        </p:nvSpPr>
        <p:spPr>
          <a:xfrm>
            <a:off x="7772400" y="38576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B62D07-A0B6-4289-A00C-8EAD8CA7E804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E35D5B"/>
                </a:solidFill>
              </a:defRPr>
            </a:pPr>
            <a:r>
              <a:rPr sz="1650" b="1">
                <a:solidFill>
                  <a:srgbClr val="E35D5B"/>
                </a:solidFill>
              </a:rPr>
              <a:t>Board narrative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51C88B-D8A9-4F01-80B6-2F1F11A5BA3C}"/>
              </a:ext>
            </a:extLst>
          </p:cNvPr>
          <p:cNvSpPr>
            <a:spLocks noGrp="1"/>
          </p:cNvSpPr>
          <p:nvPr/>
        </p:nvSpPr>
        <p:spPr>
          <a:xfrm>
            <a:off x="8191500" y="43815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Decisions, investment asks, exposure and value delivered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6B65C8-AEA4-40A7-AEC9-34218E53831A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Production metrics should be sourced, reconciled and owned; synthetic demonstration data must be replaced before decision use.</a:t>
            </a:r>
          </a:p>
        </p:txBody>
      </p:sp>
    </p:spTree>
    <p:extLst>
      <p:ext uri="{BB962C8B-B14F-4D97-AF65-F5344CB8AC3E}">
        <p14:creationId xmlns:p14="http://schemas.microsoft.com/office/powerpoint/2010/main" val="1189474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26491E7-431D-4F9F-8204-EB1D5E9DFB7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B8A89"/>
                </a:solidFill>
              </a:defRPr>
            </a:pPr>
            <a:r>
              <a:rPr sz="900" b="1">
                <a:solidFill>
                  <a:srgbClr val="0B8A89"/>
                </a:solidFill>
              </a:rPr>
              <a:t>DEPLOYMENT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762FBD-B411-477C-857D-9E6E8067FF5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Sequence adoption around decisions—not around feature availability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B38F728-2C2A-4DD1-AFC8-6CA1AB08928A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3EB697-D81E-40FE-B0D1-DBC5B28C5746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VirtuCDAIO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0376C8-18C5-43B1-93A4-50944E1B3117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0386FE-37C1-45A1-B7B5-6EDA5D60960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8A89"/>
                </a:solidFill>
              </a:defRPr>
            </a:pPr>
            <a:r>
              <a:rPr sz="1950" b="1">
                <a:solidFill>
                  <a:srgbClr val="0B8A89"/>
                </a:solidFill>
              </a:rPr>
              <a:t>1. Establish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E7B8B-B4BA-4256-8AFC-EE7C9C6CAF59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F7180"/>
                </a:solidFill>
              </a:defRPr>
            </a:pPr>
            <a:r>
              <a:rPr sz="1125" b="1">
                <a:solidFill>
                  <a:srgbClr val="5F7180"/>
                </a:solidFill>
              </a:rPr>
              <a:t>0–30 days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91D79F-EB11-49C0-B694-3009526EEB48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304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Replace demo context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select 2–3 priority assessments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validate evidence and scoring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7C7F84F-A469-4D7D-A4B7-6FB75C533150}"/>
              </a:ext>
            </a:extLst>
          </p:cNvPr>
          <p:cNvSpPr>
            <a:spLocks noGrp="1"/>
          </p:cNvSpPr>
          <p:nvPr/>
        </p:nvSpPr>
        <p:spPr>
          <a:xfrm>
            <a:off x="3971925" y="1666875"/>
            <a:ext cx="9525" cy="26670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391B88-1C82-48B3-8814-9512591CE44C}"/>
              </a:ext>
            </a:extLst>
          </p:cNvPr>
          <p:cNvSpPr>
            <a:spLocks noGrp="1"/>
          </p:cNvSpPr>
          <p:nvPr/>
        </p:nvSpPr>
        <p:spPr>
          <a:xfrm>
            <a:off x="432435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B6FA6"/>
                </a:solidFill>
              </a:defRPr>
            </a:pPr>
            <a:r>
              <a:rPr sz="1950" b="1">
                <a:solidFill>
                  <a:srgbClr val="2B6FA6"/>
                </a:solidFill>
              </a:rPr>
              <a:t>2. Connect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EED68A-DAFF-4F72-A3AA-1A6F483FA094}"/>
              </a:ext>
            </a:extLst>
          </p:cNvPr>
          <p:cNvSpPr>
            <a:spLocks noGrp="1"/>
          </p:cNvSpPr>
          <p:nvPr/>
        </p:nvSpPr>
        <p:spPr>
          <a:xfrm>
            <a:off x="4324350" y="2190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F7180"/>
                </a:solidFill>
              </a:defRPr>
            </a:pPr>
            <a:r>
              <a:rPr sz="1125" b="1">
                <a:solidFill>
                  <a:srgbClr val="5F7180"/>
                </a:solidFill>
              </a:rPr>
              <a:t>31–90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4B0FE2-2D5F-4C47-9A50-4C693BB36770}"/>
              </a:ext>
            </a:extLst>
          </p:cNvPr>
          <p:cNvSpPr>
            <a:spLocks noGrp="1"/>
          </p:cNvSpPr>
          <p:nvPr/>
        </p:nvSpPr>
        <p:spPr>
          <a:xfrm>
            <a:off x="4324350" y="2714625"/>
            <a:ext cx="304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Integrate curated sources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calibrate data profiler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set ownership and reporting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6E316E0-BD2B-42F3-91DA-F0239B1670EA}"/>
              </a:ext>
            </a:extLst>
          </p:cNvPr>
          <p:cNvSpPr>
            <a:spLocks noGrp="1"/>
          </p:cNvSpPr>
          <p:nvPr/>
        </p:nvSpPr>
        <p:spPr>
          <a:xfrm>
            <a:off x="7610475" y="1666875"/>
            <a:ext cx="9525" cy="26670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DE68A3-1DDA-49CD-B7E0-C0B347E711E8}"/>
              </a:ext>
            </a:extLst>
          </p:cNvPr>
          <p:cNvSpPr>
            <a:spLocks noGrp="1"/>
          </p:cNvSpPr>
          <p:nvPr/>
        </p:nvSpPr>
        <p:spPr>
          <a:xfrm>
            <a:off x="796290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35D5B"/>
                </a:solidFill>
              </a:defRPr>
            </a:pPr>
            <a:r>
              <a:rPr sz="1950" b="1">
                <a:solidFill>
                  <a:srgbClr val="E35D5B"/>
                </a:solidFill>
              </a:rPr>
              <a:t>3. Institutionalize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894283-88B6-442E-944E-E17DE102B46D}"/>
              </a:ext>
            </a:extLst>
          </p:cNvPr>
          <p:cNvSpPr>
            <a:spLocks noGrp="1"/>
          </p:cNvSpPr>
          <p:nvPr/>
        </p:nvSpPr>
        <p:spPr>
          <a:xfrm>
            <a:off x="7962900" y="2190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F7180"/>
                </a:solidFill>
              </a:defRPr>
            </a:pPr>
            <a:r>
              <a:rPr sz="1125" b="1">
                <a:solidFill>
                  <a:srgbClr val="5F7180"/>
                </a:solidFill>
              </a:rPr>
              <a:t>90+ days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F6DB8-075B-4D1C-AAB2-17C6FEC65FC8}"/>
              </a:ext>
            </a:extLst>
          </p:cNvPr>
          <p:cNvSpPr>
            <a:spLocks noGrp="1"/>
          </p:cNvSpPr>
          <p:nvPr/>
        </p:nvSpPr>
        <p:spPr>
          <a:xfrm>
            <a:off x="7962900" y="2714625"/>
            <a:ext cx="304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Harden deployment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embed governance cadences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scale portfolio and AI assurance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8C349A8-0CB4-4A0A-BF41-F9A53366C561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FD0B49-818D-4BA1-969E-AFEF492C2420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Executive decisions required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9B2208-6062-4F0F-8DCE-772D67051A7D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Priority decisions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6C6BD4-26A7-4ED8-A84E-30E363458FBD}"/>
              </a:ext>
            </a:extLst>
          </p:cNvPr>
          <p:cNvSpPr>
            <a:spLocks noGrp="1"/>
          </p:cNvSpPr>
          <p:nvPr/>
        </p:nvSpPr>
        <p:spPr>
          <a:xfrm>
            <a:off x="3476625" y="5572125"/>
            <a:ext cx="261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Authoritative sources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98A782-5321-4E1C-B156-891A0ADD31A2}"/>
              </a:ext>
            </a:extLst>
          </p:cNvPr>
          <p:cNvSpPr>
            <a:spLocks noGrp="1"/>
          </p:cNvSpPr>
          <p:nvPr/>
        </p:nvSpPr>
        <p:spPr>
          <a:xfrm>
            <a:off x="6572250" y="5572125"/>
            <a:ext cx="2524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Operating ownership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94BF43-2413-4262-BBA6-5350EC8B7927}"/>
              </a:ext>
            </a:extLst>
          </p:cNvPr>
          <p:cNvSpPr>
            <a:spLocks noGrp="1"/>
          </p:cNvSpPr>
          <p:nvPr/>
        </p:nvSpPr>
        <p:spPr>
          <a:xfrm>
            <a:off x="9572625" y="557212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Value measures</a:t>
            </a:r>
          </a:p>
        </p:txBody>
      </p:sp>
    </p:spTree>
    <p:extLst>
      <p:ext uri="{BB962C8B-B14F-4D97-AF65-F5344CB8AC3E}">
        <p14:creationId xmlns:p14="http://schemas.microsoft.com/office/powerpoint/2010/main" val="1037713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1739</Words>
  <Application>Microsoft Macintosh PowerPoint</Application>
  <DocSecurity>0</DocSecurity>
  <PresentationFormat>Widescreen</PresentationFormat>
  <Paragraphs>252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Fareeha Shaik</cp:lastModifiedBy>
  <cp:revision>1</cp:revision>
  <dcterms:created xsi:type="dcterms:W3CDTF">2026-08-20T03:50:16Z</dcterms:created>
  <dcterms:modified xsi:type="dcterms:W3CDTF">2026-08-20T03:55:44Z</dcterms:modified>
</cp:coreProperties>
</file>