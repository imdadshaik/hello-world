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40"/>
    <p:restoredTop sz="94610"/>
  </p:normalViewPr>
  <p:slideViewPr>
    <p:cSldViewPr snapToGrid="0" snapToObjects="1">
      <p:cViewPr varScale="1">
        <p:scale>
          <a:sx n="244" d="100"/>
          <a:sy n="244" d="100"/>
        </p:scale>
        <p:origin x="2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494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669280" y="-731520"/>
            <a:ext cx="4114800" cy="4114800"/>
          </a:xfrm>
          <a:prstGeom prst="ellipse">
            <a:avLst/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0" y="-182880"/>
            <a:ext cx="2926080" cy="2926080"/>
          </a:xfrm>
          <a:prstGeom prst="ellipse">
            <a:avLst/>
          </a:prstGeom>
          <a:solidFill>
            <a:srgbClr val="0D1830"/>
          </a:solidFill>
          <a:ln w="12700">
            <a:solidFill>
              <a:srgbClr val="0D1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2560320" cy="292608"/>
          </a:xfrm>
          <a:prstGeom prst="roundRect">
            <a:avLst>
              <a:gd name="adj" fmla="val 18750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5212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65836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Domain</a:t>
            </a:r>
            <a:endParaRPr lang="en-US" sz="4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Platform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on-demand knowledge system for Group Disability &amp; Absence — covering federal law, state PFML, FINEOS administration, Workday integration, and document intelligence, built for non-experts to operate at expert level from Day 1.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Modules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48840" y="38404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148840" y="4251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Scenarios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0" y="38404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840480" y="4251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Calculators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32120" y="38404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532120" y="4251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Topics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223760" y="38404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223760" y="4251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PFML Programs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220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Metasoft Solutions LLC  |  GDA Domain Intelligence Platform  |  August 2026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0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Three-application suite that delivers GDA domain mastery on demand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8503920" cy="640080"/>
          </a:xfrm>
          <a:prstGeom prst="rect">
            <a:avLst/>
          </a:prstGeom>
          <a:solidFill>
            <a:srgbClr val="E8F5E9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MESSAGE: MetLife's GDA team now has a fully self-contained, AI-powered knowledge platform that replaces months of domain ramp-up, surfaces FINEOS configuration expertise, connects directly to organizational documents, and generates executive-ready reports — all accessible by double-clicking a single file.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755648"/>
            <a:ext cx="2761488" cy="384048"/>
          </a:xfrm>
          <a:prstGeom prst="rect">
            <a:avLst/>
          </a:prstGeom>
          <a:solidFill>
            <a:srgbClr val="080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93192" y="1773936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Domain Bible™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93192" y="1975104"/>
            <a:ext cx="261518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foundational knowledge layer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2139696"/>
            <a:ext cx="2761488" cy="25420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176272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14 expert modules covering FMLA, ADA, PFML, STD, LTD, claims process, and scenarios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578608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Deep FINEOS platform guide — how every concept maps to FINEOS WorkPlace and Claims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980944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Workday LOA integration — complete data flow mapping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383280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6 complex real-world scenarios with day-by-day timelines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3785616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3 interactive calculators: PFML, STD, LTD benefit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4187952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Full 40-term glossary + AI Domain Advisor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0" y="1755648"/>
            <a:ext cx="2761488" cy="38404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73552" y="1773936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VirtuCDAIO™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73552" y="1975104"/>
            <a:ext cx="261518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&amp; AI platform advisor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0" y="2139696"/>
            <a:ext cx="2761488" cy="25420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91840" y="2176272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16 modules: Data Strategy, DMBOK Governance, Data Engineering, Analytics &amp; BI, AI/ML Platform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91840" y="2578608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GenAI &amp; Agentic AI registry + OWASP LLM Top 10 mitigations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91840" y="2980944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10 industry profiles with PFML/regulatory content auto-loaded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91840" y="3383280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Active assessments: DQ from data, Maturity questionnaire, DMBOK audit, AI Governance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91840" y="3785616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Data Import Hub: GitHub browser, CSV upload, SharePoint paste, JSON export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91840" y="4187952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8 Board Report types auto-generated by AI with full org context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80760" y="1755648"/>
            <a:ext cx="2761488" cy="384048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53912" y="1773936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Hub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153912" y="1975104"/>
            <a:ext cx="261518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enterprise knowledge connector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80760" y="2139696"/>
            <a:ext cx="2761488" cy="25420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172200" y="2176272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Live GitHub repo browser — public &amp; private repos with PAT support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72200" y="2578608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SharePoint &amp; Livelink — download/paste workflow with clear guidance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72200" y="2980944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URL fetcher for publicly accessible documentation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72200" y="3383280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File upload: TXT, MD, DOCX (mammoth.js), CSV, JSON, HTML, PDF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72200" y="3785616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AI Q&amp;A using loaded documents as primary context + GDA expertise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72200" y="4187952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Source citations in every answer — know which document was used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8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Domain Intelligence Platform  |  Metasoft Solutions LLC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0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Challenge: GDA Complexity Creates Risk Without Deep Domain Expertise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 and gap analysis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011680" cy="10058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6–9</a:t>
            </a:r>
            <a:endParaRPr lang="en-US" sz="24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202996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to reach FMLA + FINEOS proficiency for new GDA team members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005840"/>
            <a:ext cx="2011680" cy="10058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68880" y="10058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$150K+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468880" y="202996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 consulting spend for GDA domain advisory and FINEOS config guidance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005840"/>
            <a:ext cx="2011680" cy="100584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10058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24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&amp;</a:t>
            </a:r>
            <a:endParaRPr lang="en-US" sz="24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Laws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17720" y="202996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can simultaneously apply to a single employee absence event — stacking complexity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66560" y="1005840"/>
            <a:ext cx="2011680" cy="100584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66560" y="10058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766560" y="202996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FMLA claims have compliance errors due to procedural missteps or wrong designation timing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834640"/>
            <a:ext cx="850392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28803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Knowledge Gaps Identified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218688"/>
            <a:ext cx="73152" cy="6400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" y="323697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FMLA / ADA / PFML Law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" y="343814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stacking rules, state-specific variations, and simultaneous applicability of 3–5 laws creates compliance risk for every absence event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17720" y="3218688"/>
            <a:ext cx="73152" cy="64008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82312" y="323697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FINEOS Platform Expertise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82312" y="343814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FMLA cases flow through FINEOS, how plan rules are configured, how concurrent leave works in the system — critical institutional knowledge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968496"/>
            <a:ext cx="73152" cy="64008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" y="398678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 Integration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4632" y="418795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data fields flow between Workday and FINEOS — errors in compensation data cause incorrect STD/LTD benefit payments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17720" y="3968496"/>
            <a:ext cx="73152" cy="6400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82312" y="398678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Reporting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82312" y="418795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standard report types that customers expect — most teams cannot build these without consulting the carrier or external experts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8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Domain Intelligence Platform  |  Metasoft Solutions LLC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0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Architecture: Three Integrated Applications, One Complete GDA Platform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applications are standalone HTML — no installation required on Mac or Windows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697480" cy="475488"/>
          </a:xfrm>
          <a:prstGeom prst="rect">
            <a:avLst/>
          </a:prstGeom>
          <a:solidFill>
            <a:srgbClr val="080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2514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Domain Bible™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271016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 KB standalone HTML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1481328"/>
            <a:ext cx="2697480" cy="10058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50876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modules • FMLA/ADA/PFML/STD/LTD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FINEOS Guide • Workday Integration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Scenarios • Reports • AI Advisor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697480" cy="47548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1024128"/>
            <a:ext cx="2514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VirtuCDAIO™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1271016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216 KB standalone HTML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91840" y="1481328"/>
            <a:ext cx="2697480" cy="10058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83280" y="150876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modules • Data Strategy • DMBOK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Platform • GenAI • Assessments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Import Hub • Board Reports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63640" y="1005840"/>
            <a:ext cx="2697480" cy="475488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55080" y="1024128"/>
            <a:ext cx="2514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Hub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5080" y="1271016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artifact + standalone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63640" y="1481328"/>
            <a:ext cx="2697480" cy="10058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55080" y="150876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Browser • File Upload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SharePoint/Livelink Guide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Q&amp;A with document context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4320" y="257860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Technology Foundation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907792"/>
            <a:ext cx="1664208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9184" y="292608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API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(claude-sonnet-4-6)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10896" y="3273552"/>
            <a:ext cx="1591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brain — powers all advisory, report generation, and document Q&amp;A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011680" y="2907792"/>
            <a:ext cx="1664208" cy="347472"/>
          </a:xfrm>
          <a:prstGeom prst="rect">
            <a:avLst/>
          </a:prstGeom>
          <a:solidFill>
            <a:srgbClr val="007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066544" y="292608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API Key Needed)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048256" y="3273552"/>
            <a:ext cx="1591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expert responses for all modules — fully functional offline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749040" y="2907792"/>
            <a:ext cx="1664208" cy="34747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803904" y="292608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4.4.0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(CDN)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785616" y="3273552"/>
            <a:ext cx="1591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dashboards, DMBOK radar, DQ polar, claim volume charts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486400" y="2907792"/>
            <a:ext cx="1664208" cy="34747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541264" y="292608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/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Export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22976" y="3273552"/>
            <a:ext cx="1591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persists between sessions; full state export/import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223760" y="2907792"/>
            <a:ext cx="1664208" cy="347472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278624" y="292608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Mammoth.js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(DOCX reader)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260336" y="3273552"/>
            <a:ext cx="1591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Word documents directly in the browser — no server needed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3822192"/>
            <a:ext cx="8686800" cy="621792"/>
          </a:xfrm>
          <a:prstGeom prst="rect">
            <a:avLst/>
          </a:prstGeom>
          <a:solidFill>
            <a:srgbClr val="EFF6FF"/>
          </a:solidFill>
          <a:ln w="635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11480" y="38587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All three applications are standalone HTML files. Download → double-click → open in Chrome, Edge, Firefox, or Safari. Zero installation. Zero server. Zero IT requirements. Works on Mac and Windows. Can be shared by email or stored in SharePoint.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8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7432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Domain Intelligence Platform  |  Metasoft Solutions LLC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0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Domain Coverage: From Zero Knowledge to Expert Across All 14 Modules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Group Disability &amp; Absence reference from fundamentals to advanced FINEOS implementation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1024128"/>
            <a:ext cx="548640" cy="457200"/>
          </a:xfrm>
          <a:prstGeom prst="rect">
            <a:avLst/>
          </a:prstGeom>
          <a:solidFill>
            <a:srgbClr val="080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102412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4672" y="1024128"/>
            <a:ext cx="3794760" cy="457200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6112" y="104241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Fundamentals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6112" y="1243584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GDA, key stakeholders (carrier, TPA, employer), "stacking" problem, ecosystem map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456432" y="1097280"/>
            <a:ext cx="1078992" cy="201168"/>
          </a:xfrm>
          <a:prstGeom prst="rect">
            <a:avLst/>
          </a:prstGeom>
          <a:solidFill>
            <a:srgbClr val="E8EBF2"/>
          </a:solidFill>
          <a:ln w="6350">
            <a:solidFill>
              <a:srgbClr val="08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56432" y="1097280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90872" y="1024128"/>
            <a:ext cx="548640" cy="4572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90872" y="102412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39512" y="1024128"/>
            <a:ext cx="3794760" cy="457200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30952" y="104241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Types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30952" y="1243584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vs Intermittent vs Reduced Schedule with calendar patterns, PFML as 4th type, comparison table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891272" y="1097280"/>
            <a:ext cx="1078992" cy="201168"/>
          </a:xfrm>
          <a:prstGeom prst="rect">
            <a:avLst/>
          </a:prstGeom>
          <a:solidFill>
            <a:srgbClr val="E0F7FA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891272" y="1097280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56032" y="1549908"/>
            <a:ext cx="548640" cy="4572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6032" y="15499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04672" y="1549908"/>
            <a:ext cx="3794760" cy="457200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96112" y="156819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FMLA Deep Dive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96112" y="1769364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tabs: Overview, Eligibility, 12 Qualifying Reasons, Process &amp; Timeline, Employer Obligations, Common Mistakes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456432" y="1623060"/>
            <a:ext cx="1078992" cy="201168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56432" y="1623060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Law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90872" y="1549908"/>
            <a:ext cx="548640" cy="45720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90872" y="15499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239512" y="1549908"/>
            <a:ext cx="3794760" cy="457200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330952" y="156819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/ ADAAA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30952" y="1769364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Disability definitions, interactive process, 15 accommodation examples, ADA vs FMLA post-12-week scenario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891272" y="1623060"/>
            <a:ext cx="1078992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891272" y="1623060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Law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56032" y="2075688"/>
            <a:ext cx="548640" cy="457200"/>
          </a:xfrm>
          <a:prstGeom prst="rect">
            <a:avLst/>
          </a:prstGeom>
          <a:solidFill>
            <a:srgbClr val="007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56032" y="20756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04672" y="2075688"/>
            <a:ext cx="3794760" cy="457200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96112" y="209397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PFML Programs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96112" y="2295144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13 state programs in comparison table, interactive PFML calculator, stacking rules with NY scenario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456432" y="2148840"/>
            <a:ext cx="1078992" cy="201168"/>
          </a:xfrm>
          <a:prstGeom prst="rect">
            <a:avLst/>
          </a:prstGeom>
          <a:solidFill>
            <a:srgbClr val="E8F5E9"/>
          </a:solidFill>
          <a:ln w="6350">
            <a:solidFill>
              <a:srgbClr val="0076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456432" y="2148840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Law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90872" y="2075688"/>
            <a:ext cx="548640" cy="4572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690872" y="20756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239512" y="2075688"/>
            <a:ext cx="3794760" cy="457200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330952" y="209397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Disability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330952" y="2295144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Elimination period explained, 0/7 plan mechanics, STD calculator, taxability rules, FMLA coordination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891272" y="2148840"/>
            <a:ext cx="1078992" cy="201168"/>
          </a:xfrm>
          <a:prstGeom prst="rect">
            <a:avLst/>
          </a:prstGeom>
          <a:solidFill>
            <a:srgbClr val="FFF8E1"/>
          </a:solidFill>
          <a:ln w="63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891272" y="2148840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56032" y="2601468"/>
            <a:ext cx="548640" cy="4572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56032" y="26014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04672" y="2601468"/>
            <a:ext cx="3794760" cy="457200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96112" y="26197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Disability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96112" y="2820924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Occ vs Any Occ deep dive, SSDI offset calculations, LTD calculator, mental/nervous limitation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456432" y="2674620"/>
            <a:ext cx="1078992" cy="201168"/>
          </a:xfrm>
          <a:prstGeom prst="rect">
            <a:avLst/>
          </a:prstGeom>
          <a:solidFill>
            <a:srgbClr val="FFEBEE"/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456432" y="2674620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690872" y="2601468"/>
            <a:ext cx="548640" cy="4572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690872" y="26014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239512" y="2601468"/>
            <a:ext cx="3794760" cy="457200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330952" y="26197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Process A–Z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330952" y="2820924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9-step lifecycle, medical certifications (WH-380/APS/IME/FCE), RTW management best practices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891272" y="2674620"/>
            <a:ext cx="1078992" cy="201168"/>
          </a:xfrm>
          <a:prstGeom prst="rect">
            <a:avLst/>
          </a:prstGeom>
          <a:solidFill>
            <a:srgbClr val="E0F7FA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891272" y="2674620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56032" y="3127248"/>
            <a:ext cx="548640" cy="457200"/>
          </a:xfrm>
          <a:prstGeom prst="rect">
            <a:avLst/>
          </a:prstGeom>
          <a:solidFill>
            <a:srgbClr val="080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56032" y="31272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04672" y="3127248"/>
            <a:ext cx="3794760" cy="457200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896112" y="314553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FINEOS Platform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896112" y="3346704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tabs: What it is, absence flow, STD/LTD claim flow, workflow/tasks/SLAs, configuration, integrations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456432" y="3200400"/>
            <a:ext cx="1078992" cy="201168"/>
          </a:xfrm>
          <a:prstGeom prst="rect">
            <a:avLst/>
          </a:prstGeom>
          <a:solidFill>
            <a:srgbClr val="E8EBF2"/>
          </a:solidFill>
          <a:ln w="6350">
            <a:solidFill>
              <a:srgbClr val="08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3456432" y="3200400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690872" y="3127248"/>
            <a:ext cx="548640" cy="4572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690872" y="31272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5239512" y="3127248"/>
            <a:ext cx="3794760" cy="457200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5330952" y="314553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 Integration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5330952" y="3346704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field data mapping table, LOA module walkthrough, API vs batch patterns, common errors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7891272" y="3200400"/>
            <a:ext cx="1078992" cy="201168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7891272" y="3200400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56032" y="3653028"/>
            <a:ext cx="548640" cy="45720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256032" y="365302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804672" y="3653028"/>
            <a:ext cx="3794760" cy="457200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896112" y="367131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Scenarios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896112" y="3872484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complete scenarios: Knee surgery, Crohn's intermittent, NY maternity, Cancer LTD, ADA+FMLA+WC, WA PFML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3456432" y="3726180"/>
            <a:ext cx="1078992" cy="201168"/>
          </a:xfrm>
          <a:prstGeom prst="rect">
            <a:avLst/>
          </a:prstGeom>
          <a:solidFill>
            <a:srgbClr val="F3E5F5"/>
          </a:solidFill>
          <a:ln w="635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3456432" y="3726180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690872" y="3653028"/>
            <a:ext cx="548640" cy="457200"/>
          </a:xfrm>
          <a:prstGeom prst="rect">
            <a:avLst/>
          </a:prstGeom>
          <a:solidFill>
            <a:srgbClr val="007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4690872" y="365302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5239512" y="3653028"/>
            <a:ext cx="3794760" cy="457200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5330952" y="367131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Dashboards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5330952" y="3872484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8-report catalog, Executive Dashboard (Chart.js), FMLA Utilization sample, RTW Tracking, claim status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7891272" y="3726180"/>
            <a:ext cx="1078992" cy="201168"/>
          </a:xfrm>
          <a:prstGeom prst="rect">
            <a:avLst/>
          </a:prstGeom>
          <a:solidFill>
            <a:srgbClr val="E8F5E9"/>
          </a:solidFill>
          <a:ln w="6350">
            <a:solidFill>
              <a:srgbClr val="0076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7891272" y="3726180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256032" y="4178808"/>
            <a:ext cx="548640" cy="4572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256032" y="41788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804672" y="4178808"/>
            <a:ext cx="3794760" cy="457200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896112" y="419709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Glossary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896112" y="4398264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terms from ADA to Workers' Comp, alphabetically indexed, with practical examples for each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3456432" y="4251960"/>
            <a:ext cx="1078992" cy="201168"/>
          </a:xfrm>
          <a:prstGeom prst="rect">
            <a:avLst/>
          </a:prstGeom>
          <a:solidFill>
            <a:srgbClr val="FFF8E1"/>
          </a:solidFill>
          <a:ln w="63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3456432" y="4251960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4690872" y="4178808"/>
            <a:ext cx="548640" cy="457200"/>
          </a:xfrm>
          <a:prstGeom prst="rect">
            <a:avLst/>
          </a:prstGeom>
          <a:solidFill>
            <a:srgbClr val="080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4690872" y="41788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98" name="Shape 96"/>
          <p:cNvSpPr/>
          <p:nvPr/>
        </p:nvSpPr>
        <p:spPr>
          <a:xfrm>
            <a:off x="5239512" y="4178808"/>
            <a:ext cx="3794760" cy="457200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5330952" y="419709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Domain Advisor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5330952" y="4398264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 with 13 pre-built expert responses + Anthropic API integration for live personalized answers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7891272" y="4251960"/>
            <a:ext cx="1078992" cy="201168"/>
          </a:xfrm>
          <a:prstGeom prst="rect">
            <a:avLst/>
          </a:prstGeom>
          <a:solidFill>
            <a:srgbClr val="E8EBF2"/>
          </a:solidFill>
          <a:ln w="6350">
            <a:solidFill>
              <a:srgbClr val="08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7891272" y="4251960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8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27432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Domain Intelligence Platform  |  Metasoft Solutions LLC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0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Framework: Six Laws That Can Apply Simultaneously to One Employee Absence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"stacking" complexity that makes GDA expertise mission-critical for MetLife operations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417320" cy="566928"/>
          </a:xfrm>
          <a:prstGeom prst="rect">
            <a:avLst/>
          </a:prstGeom>
          <a:solidFill>
            <a:srgbClr val="080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1005840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FMLA (Federal)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691640" y="1005840"/>
            <a:ext cx="4480560" cy="56692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783080" y="1069848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weeks/year job protection | Unpaid | 50+ employee companies | All qualifying reasons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72200" y="1005840"/>
            <a:ext cx="2724912" cy="566928"/>
          </a:xfrm>
          <a:prstGeom prst="rect">
            <a:avLst/>
          </a:prstGeom>
          <a:solidFill>
            <a:srgbClr val="F4F5F9"/>
          </a:solidFill>
          <a:ln w="5080">
            <a:solidFill>
              <a:srgbClr val="7A8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36208" y="1042416"/>
            <a:ext cx="2596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Protection Layer — ALL employees who qualify get this simultaneously with other benefits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1655064"/>
            <a:ext cx="1417320" cy="56692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2608" y="1655064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/ ADAAA (Federal)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691640" y="1655064"/>
            <a:ext cx="4480560" cy="56692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783080" y="1719072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 accommodations | No time limit | 15+ employee companies | After FMLA expires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72200" y="1655064"/>
            <a:ext cx="2724912" cy="566928"/>
          </a:xfrm>
          <a:prstGeom prst="rect">
            <a:avLst/>
          </a:prstGeom>
          <a:solidFill>
            <a:srgbClr val="EFF8FF"/>
          </a:solidFill>
          <a:ln w="508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36208" y="1691640"/>
            <a:ext cx="2596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Layer — continues after FMLA 12 weeks end; employer must engage interactive process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304288"/>
            <a:ext cx="1417320" cy="566928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92608" y="2304288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PFML Programs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691640" y="2304288"/>
            <a:ext cx="4480560" cy="56692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783080" y="2368296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weeks paid | 60–90% wage replacement | 13 states active | Runs concurrent with FMLA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72200" y="2304288"/>
            <a:ext cx="2724912" cy="566928"/>
          </a:xfrm>
          <a:prstGeom prst="rect">
            <a:avLst/>
          </a:prstGeom>
          <a:solidFill>
            <a:srgbClr val="F9F0FC"/>
          </a:solidFill>
          <a:ln w="508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36208" y="2340864"/>
            <a:ext cx="2596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Replacement Layer — New York, California, New Jersey, Washington employees get PAID during FMLA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2953512"/>
            <a:ext cx="1417320" cy="56692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92608" y="2953512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Disability (STD)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691640" y="2953512"/>
            <a:ext cx="4480560" cy="56692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783080" y="3017520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60–70% wages | 12–26 weeks | After elimination period | Employer/carrier policy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72200" y="2953512"/>
            <a:ext cx="2724912" cy="566928"/>
          </a:xfrm>
          <a:prstGeom prst="rect">
            <a:avLst/>
          </a:prstGeom>
          <a:solidFill>
            <a:srgbClr val="E8F9FB"/>
          </a:solidFill>
          <a:ln w="508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36208" y="2990088"/>
            <a:ext cx="2596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Replacement Layer — runs concurrent with FMLA; STD pays while FMLA protects the job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3602736"/>
            <a:ext cx="1417320" cy="56692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92608" y="3602736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Disability (LTD)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691640" y="3602736"/>
            <a:ext cx="4480560" cy="56692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783080" y="3666744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wages to age 65 | After STD ends | SSDI offset applies | Own Occ → Any Occ at 24 mo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72200" y="3602736"/>
            <a:ext cx="2724912" cy="566928"/>
          </a:xfrm>
          <a:prstGeom prst="rect">
            <a:avLst/>
          </a:prstGeom>
          <a:solidFill>
            <a:srgbClr val="FFFDF0"/>
          </a:solidFill>
          <a:ln w="508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36208" y="3639312"/>
            <a:ext cx="2596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Long-Duration Layer — activates when STD maximum is reached (typically month 6–7)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4251960"/>
            <a:ext cx="1417320" cy="566928"/>
          </a:xfrm>
          <a:prstGeom prst="rect">
            <a:avLst/>
          </a:prstGeom>
          <a:solidFill>
            <a:srgbClr val="007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92608" y="4251960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Workers' Compensation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691640" y="4251960"/>
            <a:ext cx="4480560" cy="56692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783080" y="4315968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injuries only | Medical 100% | 66.67% wages | State-run | Mutually exclusive with STD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72200" y="4251960"/>
            <a:ext cx="2724912" cy="566928"/>
          </a:xfrm>
          <a:prstGeom prst="rect">
            <a:avLst/>
          </a:prstGeom>
          <a:solidFill>
            <a:srgbClr val="F0FAF2"/>
          </a:solidFill>
          <a:ln w="508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236208" y="4288536"/>
            <a:ext cx="2596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Injury Layer — replaces STD for occupational injuries; FMLA runs concurrently with WC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8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7432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Domain Intelligence Platform  |  Metasoft Solutions LLC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0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FINEOS Platform Guide: How Every GDA Concept Maps to FINEOS WorkPlace and Claims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6-tab module covering intake, absence management, STD/LTD claims, workflow, configuration, and integrations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0241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FINEOS Product Suite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914400" cy="749808"/>
          </a:xfrm>
          <a:prstGeom prst="rect">
            <a:avLst/>
          </a:prstGeom>
          <a:solidFill>
            <a:srgbClr val="080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2608" y="1362456"/>
            <a:ext cx="87782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FINEOS WorkPlace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88720" y="1325880"/>
            <a:ext cx="2395728" cy="74980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80160" y="1399032"/>
            <a:ext cx="22128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Management: FMLA, PFML, ADA accommodations, parental leave. Manages LEAVE side — time away and job protection.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914400" cy="74980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2608" y="2231136"/>
            <a:ext cx="87782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FINEOS Claims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188720" y="2194560"/>
            <a:ext cx="2395728" cy="74980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80160" y="2267712"/>
            <a:ext cx="22128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Disability Claims: STD, LTD, life insurance. Manages BENEFIT side — calculating and paying income replacement.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063240"/>
            <a:ext cx="914400" cy="7498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92608" y="3099816"/>
            <a:ext cx="87782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FINEOS Policy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188720" y="3063240"/>
            <a:ext cx="2395728" cy="74980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80160" y="3136392"/>
            <a:ext cx="22128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Benefits Admin: plan setup, rules, rates, billing. Foundation that drives Claims and WorkPlace behavior.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931920"/>
            <a:ext cx="914400" cy="749808"/>
          </a:xfrm>
          <a:prstGeom prst="rect">
            <a:avLst/>
          </a:prstGeom>
          <a:solidFill>
            <a:srgbClr val="007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92608" y="3968496"/>
            <a:ext cx="87782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FINEOS DataHub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188720" y="3931920"/>
            <a:ext cx="2395728" cy="74980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80160" y="4005072"/>
            <a:ext cx="22128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and Reporting: operational reports, compliance reporting, BI dashboards, data warehouse feeds.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49040" y="1024128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FMLA/STD Claim Flows Through FINEOS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749040" y="1325880"/>
            <a:ext cx="685800" cy="530352"/>
          </a:xfrm>
          <a:prstGeom prst="rect">
            <a:avLst/>
          </a:prstGeom>
          <a:solidFill>
            <a:srgbClr val="080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749040" y="1325880"/>
            <a:ext cx="685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059936" y="1856232"/>
            <a:ext cx="64008" cy="82296"/>
          </a:xfrm>
          <a:prstGeom prst="rect">
            <a:avLst/>
          </a:prstGeom>
          <a:solidFill>
            <a:srgbClr val="080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434840" y="1325880"/>
            <a:ext cx="4480560" cy="530352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26280" y="1389888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calls leave line. FINEOS creates Absence Case. Auto-populates from Workday API.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749040" y="1938528"/>
            <a:ext cx="685800" cy="53035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749040" y="1938528"/>
            <a:ext cx="685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059936" y="2468880"/>
            <a:ext cx="64008" cy="82296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434840" y="1938528"/>
            <a:ext cx="4480560" cy="530352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26280" y="2002536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checks: 12 months? 1,250 hrs? 50/75 rule? FMLA eligibility confirmed in seconds.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749040" y="2551176"/>
            <a:ext cx="685800" cy="5303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749040" y="2551176"/>
            <a:ext cx="685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059936" y="3081528"/>
            <a:ext cx="64008" cy="8229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434840" y="2551176"/>
            <a:ext cx="4480560" cy="530352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26280" y="2615184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WH-381 auto-generated. 15-day deadline tracked. Automated reminders at Day 7, 12, 14.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749040" y="3163824"/>
            <a:ext cx="685800" cy="530352"/>
          </a:xfrm>
          <a:prstGeom prst="rect">
            <a:avLst/>
          </a:prstGeom>
          <a:solidFill>
            <a:srgbClr val="007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749040" y="3163824"/>
            <a:ext cx="685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ADJUDICATION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059936" y="3694176"/>
            <a:ext cx="64008" cy="82296"/>
          </a:xfrm>
          <a:prstGeom prst="rect">
            <a:avLst/>
          </a:prstGeom>
          <a:solidFill>
            <a:srgbClr val="007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434840" y="3163824"/>
            <a:ext cx="4480560" cy="530352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526280" y="3227832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Examiner reviews medical vs plan rules. Decision within SLA. WH-382 auto-generated.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749040" y="3776472"/>
            <a:ext cx="685800" cy="53035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749040" y="3776472"/>
            <a:ext cx="685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059936" y="4306824"/>
            <a:ext cx="64008" cy="8229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434840" y="3776472"/>
            <a:ext cx="4480560" cy="530352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526280" y="3840480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calculation: salary (from Workday) × 60% − state disability offset. Payment file to payroll.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749040" y="4389120"/>
            <a:ext cx="685800" cy="530352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749040" y="4389120"/>
            <a:ext cx="685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RTW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434840" y="4389120"/>
            <a:ext cx="4480560" cy="530352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526280" y="4453128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RTW tracked. Restrictions communicated to employer. Graduated RTW managed.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8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7432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Domain Intelligence Platform  |  Metasoft Solutions LLC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0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Workday-FINEOS Integration: 30+ Data Elements Mapped Across Bidirectional Data Flows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integration architecture with real field-level mapping — the most frequent source of claim payment errors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2560320" cy="347472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10058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 → FINEOS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1389888"/>
            <a:ext cx="118872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1426464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Master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44752" y="1389888"/>
            <a:ext cx="1389888" cy="438912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81328" y="1426464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ID, SSN, DOB, hire date, address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6032" y="1892808"/>
            <a:ext cx="118872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2608" y="1929384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(CRITICAL)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444752" y="1892808"/>
            <a:ext cx="1389888" cy="438912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481328" y="1929384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salary/rate — drives STD/LTD calculation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6032" y="2395728"/>
            <a:ext cx="118872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2608" y="2432304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Schedule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444752" y="2395728"/>
            <a:ext cx="1389888" cy="438912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481328" y="2432304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Hrs/week — drives FMLA 1,250-hour eligibility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6032" y="2898648"/>
            <a:ext cx="118872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92608" y="2935224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Enrollment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444752" y="2898648"/>
            <a:ext cx="1389888" cy="438912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481328" y="2935224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STD/LTD plan, pre-tax/post-tax for taxability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6032" y="3401568"/>
            <a:ext cx="118872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92608" y="3438144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&amp; Org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444752" y="3401568"/>
            <a:ext cx="1389888" cy="438912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481328" y="3438144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Job, dept, manager, location (50/75-mile rule)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6032" y="3904488"/>
            <a:ext cx="118872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92608" y="3941064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 Request (real-time)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444752" y="3904488"/>
            <a:ext cx="1389888" cy="438912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481328" y="3941064"/>
            <a:ext cx="1316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type, dates → triggers FINEOS case creation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090672" y="1005840"/>
            <a:ext cx="2999232" cy="347472"/>
          </a:xfrm>
          <a:prstGeom prst="rect">
            <a:avLst/>
          </a:prstGeom>
          <a:solidFill>
            <a:srgbClr val="080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090672" y="1005840"/>
            <a:ext cx="2999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LAYER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090672" y="1389888"/>
            <a:ext cx="2999232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127248" y="138988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REST API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090672" y="1737360"/>
            <a:ext cx="2999232" cy="713232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182112" y="1783080"/>
            <a:ext cx="28163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 submissions, claim status updates. Sub-5 second latency. Best user experience.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090672" y="2487168"/>
            <a:ext cx="2999232" cy="34747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127248" y="248716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SFTP Batch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090672" y="2834640"/>
            <a:ext cx="2999232" cy="713232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182112" y="2880360"/>
            <a:ext cx="28163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master, compensation, enrollment. 24-hour latency. Most widely deployed.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090672" y="3584448"/>
            <a:ext cx="2999232" cy="347472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127248" y="358444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(Most Common)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090672" y="3931920"/>
            <a:ext cx="2999232" cy="713232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182112" y="3977640"/>
            <a:ext cx="28163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for employee events + batch for bulk HR data. Balance of speed and stability.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355080" y="1005840"/>
            <a:ext cx="2542032" cy="347472"/>
          </a:xfrm>
          <a:prstGeom prst="rect">
            <a:avLst/>
          </a:prstGeom>
          <a:solidFill>
            <a:srgbClr val="080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355080" y="100584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FINEOS → WORKDAY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355080" y="1389888"/>
            <a:ext cx="1188720" cy="438912"/>
          </a:xfrm>
          <a:prstGeom prst="rect">
            <a:avLst/>
          </a:prstGeom>
          <a:solidFill>
            <a:srgbClr val="E8EBF2"/>
          </a:solidFill>
          <a:ln w="6350">
            <a:solidFill>
              <a:srgbClr val="0D1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391656" y="1426464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8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Approval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543800" y="1389888"/>
            <a:ext cx="1353312" cy="438912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580376" y="142646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dates, leave type, FMLA designation status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355080" y="1892808"/>
            <a:ext cx="1188720" cy="438912"/>
          </a:xfrm>
          <a:prstGeom prst="rect">
            <a:avLst/>
          </a:prstGeom>
          <a:solidFill>
            <a:srgbClr val="E8EBF2"/>
          </a:solidFill>
          <a:ln w="6350">
            <a:solidFill>
              <a:srgbClr val="0D1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391656" y="1929384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8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Benefit Amount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543800" y="1892808"/>
            <a:ext cx="1353312" cy="438912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580376" y="192938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$ to reduce from payroll — prevents double-pay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355080" y="2395728"/>
            <a:ext cx="1188720" cy="438912"/>
          </a:xfrm>
          <a:prstGeom prst="rect">
            <a:avLst/>
          </a:prstGeom>
          <a:solidFill>
            <a:srgbClr val="E8EBF2"/>
          </a:solidFill>
          <a:ln w="6350">
            <a:solidFill>
              <a:srgbClr val="0D1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391656" y="2432304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8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LTD Status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543800" y="2395728"/>
            <a:ext cx="1353312" cy="438912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580376" y="243230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leave status for HR record maintenance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355080" y="2898648"/>
            <a:ext cx="1188720" cy="438912"/>
          </a:xfrm>
          <a:prstGeom prst="rect">
            <a:avLst/>
          </a:prstGeom>
          <a:solidFill>
            <a:srgbClr val="E8EBF2"/>
          </a:solidFill>
          <a:ln w="6350">
            <a:solidFill>
              <a:srgbClr val="0D1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391656" y="2935224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8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RTW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543800" y="2898648"/>
            <a:ext cx="1353312" cy="438912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580376" y="293522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RTW date + restrictions for HR planning and accommodation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355080" y="3401568"/>
            <a:ext cx="1188720" cy="438912"/>
          </a:xfrm>
          <a:prstGeom prst="rect">
            <a:avLst/>
          </a:prstGeom>
          <a:solidFill>
            <a:srgbClr val="E8EBF2"/>
          </a:solidFill>
          <a:ln w="6350">
            <a:solidFill>
              <a:srgbClr val="0D1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391656" y="3438144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8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FMLA Hours Used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543800" y="3401568"/>
            <a:ext cx="1353312" cy="438912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580376" y="343814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balance for manager visibility and HR reporting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355080" y="3904488"/>
            <a:ext cx="1188720" cy="438912"/>
          </a:xfrm>
          <a:prstGeom prst="rect">
            <a:avLst/>
          </a:prstGeom>
          <a:solidFill>
            <a:srgbClr val="E8EBF2"/>
          </a:solidFill>
          <a:ln w="6350">
            <a:solidFill>
              <a:srgbClr val="0D1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391656" y="3941064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8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RTW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543800" y="3904488"/>
            <a:ext cx="1353312" cy="438912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7580376" y="394106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return — closes LOA record in Workday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256032" y="4681728"/>
            <a:ext cx="8641080" cy="10972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320040" y="4617720"/>
            <a:ext cx="8549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Critical Risk: Salary not updating in FINEOS when employee gets a raise → incorrect STD/LTD benefits. Compensation changes in Workday must trigger near-real-time FINEOS update.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8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27432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Domain Intelligence Platform  |  Metasoft Solutions LLC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0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Real-World Scenarios: Complete Day-by-Day Case Studies with Financial Modeling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basic continuous leave to advanced multi-law overlaps — each with actual benefit calculations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475488" cy="822960"/>
          </a:xfrm>
          <a:prstGeom prst="rect">
            <a:avLst/>
          </a:prstGeom>
          <a:solidFill>
            <a:srgbClr val="080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1060704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005840"/>
            <a:ext cx="2359152" cy="384048"/>
          </a:xfrm>
          <a:prstGeom prst="rect">
            <a:avLst/>
          </a:prstGeom>
          <a:solidFill>
            <a:srgbClr val="080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8096" y="10058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</a:t>
            </a:r>
            <a:endParaRPr lang="en-US" sz="10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 Replacement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1389888"/>
            <a:ext cx="2359152" cy="438912"/>
          </a:xfrm>
          <a:prstGeom prst="rect">
            <a:avLst/>
          </a:prstGeom>
          <a:solidFill>
            <a:srgbClr val="D5DBE8"/>
          </a:solidFill>
          <a:ln w="6350">
            <a:solidFill>
              <a:srgbClr val="9BAA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68096" y="138988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8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+ FMLA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8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1828800"/>
            <a:ext cx="2359152" cy="1042416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4672" y="1865376"/>
            <a:ext cx="2212848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James, TX, $1,500/wk. Surgery March 1. 0/7 STD plan. 12-week FMLA concurrent. STD pays $900/wk from Day 8. FMLA exhausts Day 84. STD continues. Total STD paid: $11,250.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63824" y="1005840"/>
            <a:ext cx="475488" cy="8229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63824" y="1060704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639312" y="1005840"/>
            <a:ext cx="2359152" cy="38404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75888" y="10058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</a:t>
            </a:r>
            <a:endParaRPr lang="en-US" sz="10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Crohn's Disease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39312" y="1389888"/>
            <a:ext cx="2359152" cy="438912"/>
          </a:xfrm>
          <a:prstGeom prst="rect">
            <a:avLst/>
          </a:prstGeom>
          <a:solidFill>
            <a:srgbClr val="B2EBF2"/>
          </a:solidFill>
          <a:ln w="6350">
            <a:solidFill>
              <a:srgbClr val="26C6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75888" y="138988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Intermittent FMLA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Tracking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39312" y="1828800"/>
            <a:ext cx="2359152" cy="1042416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712464" y="1865376"/>
            <a:ext cx="2212848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Sarah, NJ, 4 yrs tenure. 2–4 flare-ups/month, 2–8 hrs each. 480-hour FMLA bank. Uses 188 hours in year 1 (39% of bank). No STD — chronic, not continuous.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071616" y="1005840"/>
            <a:ext cx="475488" cy="82296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071616" y="1060704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547104" y="1005840"/>
            <a:ext cx="2359152" cy="384048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83680" y="10058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</a:t>
            </a:r>
            <a:endParaRPr lang="en-US" sz="10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 Maternity Leave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47104" y="1389888"/>
            <a:ext cx="2359152" cy="438912"/>
          </a:xfrm>
          <a:prstGeom prst="rect">
            <a:avLst/>
          </a:prstGeom>
          <a:solidFill>
            <a:srgbClr val="E1BEE7"/>
          </a:solidFill>
          <a:ln w="6350">
            <a:solidFill>
              <a:srgbClr val="AB47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83680" y="138988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FMLA + NY DBL +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 PFL + STD Stack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547104" y="1828800"/>
            <a:ext cx="2359152" cy="1042416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620256" y="1865376"/>
            <a:ext cx="2212848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Maria, NYC, $1,731/wk. C-section Jan 15. 4 laws apply simultaneously. STD net: $868/wk (after DBL offset). NY PFL: $1,151/wk for bonding. Total benefit: $22,116.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56032" y="2944368"/>
            <a:ext cx="475488" cy="8229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56032" y="2999232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31520" y="2944368"/>
            <a:ext cx="2359152" cy="38404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68096" y="294436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4</a:t>
            </a:r>
            <a:endParaRPr lang="en-US" sz="10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Diagnosis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31520" y="3328416"/>
            <a:ext cx="2359152" cy="438912"/>
          </a:xfrm>
          <a:prstGeom prst="rect">
            <a:avLst/>
          </a:prstGeom>
          <a:solidFill>
            <a:srgbClr val="FFECB3"/>
          </a:solidFill>
          <a:ln w="635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68096" y="332841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→ LTD → SSDI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Occ → Any Occ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31520" y="3767328"/>
            <a:ext cx="2359152" cy="1042416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04672" y="3803904"/>
            <a:ext cx="2212848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Robert, $10,000/mo. Surgery Month 1. STD 6 months → LTD begins. SSDI awarded Month 12: $2,200/mo. LTD net: $3,800/mo. Month 31: Any Occ review. IME: approved to age 65.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163824" y="2944368"/>
            <a:ext cx="475488" cy="8229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163824" y="2999232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639312" y="2944368"/>
            <a:ext cx="2359152" cy="38404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675888" y="294436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5</a:t>
            </a:r>
            <a:endParaRPr lang="en-US" sz="10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Injury + FMLA + ADA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639312" y="3328416"/>
            <a:ext cx="2359152" cy="438912"/>
          </a:xfrm>
          <a:prstGeom prst="rect">
            <a:avLst/>
          </a:prstGeom>
          <a:solidFill>
            <a:srgbClr val="FFCDD2"/>
          </a:solidFill>
          <a:ln w="635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675888" y="332841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Law Overlap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 + FMLA + ADA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39312" y="3767328"/>
            <a:ext cx="2359152" cy="1042416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712464" y="3803904"/>
            <a:ext cx="2212848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Carmen, warehouse injury. WC pays medical + 66.67% wages. FMLA runs concurrently (12 wks). At FMLA exhaustion: ADA requires interactive process. STD excluded — WC is work-related.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071616" y="2944368"/>
            <a:ext cx="475488" cy="822960"/>
          </a:xfrm>
          <a:prstGeom prst="rect">
            <a:avLst/>
          </a:prstGeom>
          <a:solidFill>
            <a:srgbClr val="007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071616" y="2999232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547104" y="2944368"/>
            <a:ext cx="2359152" cy="384048"/>
          </a:xfrm>
          <a:prstGeom prst="rect">
            <a:avLst/>
          </a:prstGeom>
          <a:solidFill>
            <a:srgbClr val="007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583680" y="294436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6</a:t>
            </a:r>
            <a:endParaRPr lang="en-US" sz="10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State PFML + FMLA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547104" y="3328416"/>
            <a:ext cx="2359152" cy="438912"/>
          </a:xfrm>
          <a:prstGeom prst="rect">
            <a:avLst/>
          </a:prstGeom>
          <a:solidFill>
            <a:srgbClr val="C8E6C9"/>
          </a:solidFill>
          <a:ln w="635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583680" y="332841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07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Stacking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07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Family Care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547104" y="3767328"/>
            <a:ext cx="2359152" cy="1042416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620256" y="3803904"/>
            <a:ext cx="2212848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Kevin, WA, $2,692/wk, caring for father w/ cancer. FMLA (12 wks job protection) + WA PFML ($1,456/wk, at state cap) run concurrently. STD does not apply (Kevin is not disabled — his father is).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8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27432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Domain Intelligence Platform  |  Metasoft Solutions LLC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0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Dashboards: Eight Standard Reports That Customers Request Most Frequently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sample data, interactive dashboard with Chart.js visualizations, and customer FAQ guidance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Report Catalog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256032" cy="38404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30352" y="1298448"/>
            <a:ext cx="3840480" cy="38404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31673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FMLA Utilization Report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63240" y="1335024"/>
            <a:ext cx="822960" cy="164592"/>
          </a:xfrm>
          <a:prstGeom prst="rect">
            <a:avLst/>
          </a:prstGeom>
          <a:solidFill>
            <a:srgbClr val="E3F2FD"/>
          </a:solidFill>
          <a:ln w="508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63240" y="1335024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Weekly/Monthly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94360" y="1499616"/>
            <a:ext cx="3639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used vs 480-hr bank, by employee, dept, leave type. Shows exhaustion risk. Cert status.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1755648"/>
            <a:ext cx="256032" cy="38404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30352" y="1755648"/>
            <a:ext cx="3840480" cy="38404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177393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Claims Report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063240" y="1792224"/>
            <a:ext cx="822960" cy="164592"/>
          </a:xfrm>
          <a:prstGeom prst="rect">
            <a:avLst/>
          </a:prstGeom>
          <a:solidFill>
            <a:srgbClr val="E0F7FA"/>
          </a:solidFill>
          <a:ln w="508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063240" y="1792224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Daily/Weekly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94360" y="1956816"/>
            <a:ext cx="3639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open STD/LTD/FMLA cases with status, examiner, last action date, expected RTW.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2212848"/>
            <a:ext cx="256032" cy="384048"/>
          </a:xfrm>
          <a:prstGeom prst="rect">
            <a:avLst/>
          </a:prstGeom>
          <a:solidFill>
            <a:srgbClr val="007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30352" y="2212848"/>
            <a:ext cx="3840480" cy="38404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223113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RTW Dashboard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063240" y="2249424"/>
            <a:ext cx="822960" cy="164592"/>
          </a:xfrm>
          <a:prstGeom prst="rect">
            <a:avLst/>
          </a:prstGeom>
          <a:solidFill>
            <a:srgbClr val="E8F5E9"/>
          </a:solidFill>
          <a:ln w="5080">
            <a:solidFill>
              <a:srgbClr val="0076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063240" y="2249424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7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94360" y="2414016"/>
            <a:ext cx="3639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approaching/past RTW date. Days delayed. RTW plan status. Employer contact log.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2670048"/>
            <a:ext cx="256032" cy="38404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30352" y="2670048"/>
            <a:ext cx="3840480" cy="38404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4360" y="268833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Incidence Rate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063240" y="2706624"/>
            <a:ext cx="822960" cy="164592"/>
          </a:xfrm>
          <a:prstGeom prst="rect">
            <a:avLst/>
          </a:prstGeom>
          <a:solidFill>
            <a:srgbClr val="FFF8E1"/>
          </a:solidFill>
          <a:ln w="508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063240" y="2706624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Monthly/Quarterly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94360" y="2871216"/>
            <a:ext cx="3639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by dept, job category. Benchmarks vs industry. High-absence dept identification.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" y="3127248"/>
            <a:ext cx="256032" cy="384048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30352" y="3127248"/>
            <a:ext cx="3840480" cy="38404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94360" y="314553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Duration Analysis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063240" y="3163824"/>
            <a:ext cx="822960" cy="164592"/>
          </a:xfrm>
          <a:prstGeom prst="rect">
            <a:avLst/>
          </a:prstGeom>
          <a:solidFill>
            <a:srgbClr val="F3E5F5"/>
          </a:solidFill>
          <a:ln w="508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063240" y="3163824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94360" y="3328416"/>
            <a:ext cx="3639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duration by type, diagnosis. Outlier claims. % resolved in 30/60/90 days.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74320" y="3584448"/>
            <a:ext cx="256032" cy="38404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30352" y="3584448"/>
            <a:ext cx="3840480" cy="38404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94360" y="360273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Paid Summary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063240" y="3621024"/>
            <a:ext cx="822960" cy="164592"/>
          </a:xfrm>
          <a:prstGeom prst="rect">
            <a:avLst/>
          </a:prstGeom>
          <a:solidFill>
            <a:srgbClr val="FFEBEE"/>
          </a:solidFill>
          <a:ln w="508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063240" y="3621024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94360" y="3785616"/>
            <a:ext cx="3639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STD/LTD/PFML paid, SSDI offsets recovered, net plan cost. Financial management.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74320" y="4041648"/>
            <a:ext cx="256032" cy="384048"/>
          </a:xfrm>
          <a:prstGeom prst="rect">
            <a:avLst/>
          </a:prstGeom>
          <a:solidFill>
            <a:srgbClr val="080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30352" y="4041648"/>
            <a:ext cx="3840480" cy="38404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94360" y="405993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 Report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063240" y="4078224"/>
            <a:ext cx="822960" cy="164592"/>
          </a:xfrm>
          <a:prstGeom prst="rect">
            <a:avLst/>
          </a:prstGeom>
          <a:solidFill>
            <a:srgbClr val="E8EBF2"/>
          </a:solidFill>
          <a:ln w="5080">
            <a:solidFill>
              <a:srgbClr val="080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063240" y="4078224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8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94360" y="4242816"/>
            <a:ext cx="3639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FMLA notice compliance (5-day), cert cure (7-day), ERISA appeal (45-day). Red/Yellow/Green.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74320" y="4498848"/>
            <a:ext cx="256032" cy="384048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530352" y="4498848"/>
            <a:ext cx="3840480" cy="38404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94360" y="451713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FMLA Leave Abuse Analytics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063240" y="4535424"/>
            <a:ext cx="822960" cy="164592"/>
          </a:xfrm>
          <a:prstGeom prst="rect">
            <a:avLst/>
          </a:prstGeom>
          <a:solidFill>
            <a:srgbClr val="F1F5F9"/>
          </a:solidFill>
          <a:ln w="508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063240" y="4535424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94360" y="4700016"/>
            <a:ext cx="3639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Mon/Fri patterns, holiday adjacency, frequency analysis. Triggers recertification review.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663440" y="100584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 — Built-in Metrics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663440" y="1325880"/>
            <a:ext cx="1938528" cy="56692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663440" y="1325880"/>
            <a:ext cx="1938528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663440" y="141732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1,247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4663440" y="1691640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Claims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766560" y="1325880"/>
            <a:ext cx="1938528" cy="56692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6766560" y="1325880"/>
            <a:ext cx="1938528" cy="73152"/>
          </a:xfrm>
          <a:prstGeom prst="rect">
            <a:avLst/>
          </a:prstGeom>
          <a:solidFill>
            <a:srgbClr val="007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766560" y="141732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7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6766560" y="1691640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RTW Rate 30d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663440" y="1984248"/>
            <a:ext cx="1938528" cy="56692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4663440" y="1984248"/>
            <a:ext cx="1938528" cy="7315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663440" y="2075688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days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4663440" y="2350008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Duration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766560" y="1984248"/>
            <a:ext cx="1938528" cy="566928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6766560" y="1984248"/>
            <a:ext cx="1938528" cy="7315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766560" y="2075688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2000" dirty="0"/>
          </a:p>
        </p:txBody>
      </p:sp>
      <p:sp>
        <p:nvSpPr>
          <p:cNvPr id="70" name="Text 68"/>
          <p:cNvSpPr/>
          <p:nvPr/>
        </p:nvSpPr>
        <p:spPr>
          <a:xfrm>
            <a:off x="6766560" y="2350008"/>
            <a:ext cx="1938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FMLA SLA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663440" y="2670048"/>
            <a:ext cx="4206240" cy="347472"/>
          </a:xfrm>
          <a:prstGeom prst="rect">
            <a:avLst/>
          </a:prstGeom>
          <a:solidFill>
            <a:srgbClr val="080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663440" y="267004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Visualizations Included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4663440" y="3054096"/>
            <a:ext cx="201168" cy="4937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4919472" y="3072384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by Type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4919472" y="3255264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Doughnut: STD 42% / LTD 16% / FMLA 27% / PFML 10% / ADA 5%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766560" y="3054096"/>
            <a:ext cx="201168" cy="493776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7022592" y="3072384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Claim Volume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7022592" y="3255264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Bar: 12-month trend with New vs Closed series overlay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663440" y="3639312"/>
            <a:ext cx="201168" cy="493776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4919472" y="3657600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by State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4919472" y="384048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Bar: NY, CA, NJ, TX, FL, WA, MA, IL, Other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6766560" y="3639312"/>
            <a:ext cx="201168" cy="4937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7022592" y="3657600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FMLA by Department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7022592" y="384048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stacked: Hours Used vs Remaining per dept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4663440" y="4224528"/>
            <a:ext cx="201168" cy="493776"/>
          </a:xfrm>
          <a:prstGeom prst="rect">
            <a:avLst/>
          </a:prstGeom>
          <a:solidFill>
            <a:srgbClr val="007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4919472" y="4242816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Type Split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4919472" y="4425696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Doughnut: Continuous 38% / Intermittent 29% / Reduced 12% / PFML 21%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6766560" y="4224528"/>
            <a:ext cx="201168" cy="4937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7022592" y="4242816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Duration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7022592" y="4425696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distribution: 1-7d, 8-14d, 15-30d, 31-60d, 61-90d, 90+d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8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27432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Domain Intelligence Platform  |  Metasoft Solutions LLC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0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Hub: Connect Any Knowledge Source — GitHub, SharePoint, Livelink, or Files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Q&amp;A using your organization's documents as primary context, supplemented by GDA domain expertise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02412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Source to Answer in 4 Steps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53312"/>
            <a:ext cx="2029968" cy="475488"/>
          </a:xfrm>
          <a:prstGeom prst="rect">
            <a:avLst/>
          </a:prstGeom>
          <a:solidFill>
            <a:srgbClr val="080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35331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04288" y="1545336"/>
            <a:ext cx="164592" cy="91440"/>
          </a:xfrm>
          <a:prstGeom prst="rect">
            <a:avLst/>
          </a:prstGeom>
          <a:solidFill>
            <a:srgbClr val="080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2029968" cy="1097280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865376"/>
            <a:ext cx="184708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your document sources: GitHub repos, uploaded files, pasted content from SharePoint/Livelink, or public URLs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68880" y="1353312"/>
            <a:ext cx="2029968" cy="47548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68880" y="135331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98848" y="1545336"/>
            <a:ext cx="164592" cy="9144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468880" y="1828800"/>
            <a:ext cx="2029968" cy="1097280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60320" y="1865376"/>
            <a:ext cx="184708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loaded into browser memory. DOCX auto-parsed via mammoth.js. Content displayed in library panel with checkboxes.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1353312"/>
            <a:ext cx="2029968" cy="47548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135331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93408" y="1545336"/>
            <a:ext cx="164592" cy="914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3440" y="1828800"/>
            <a:ext cx="2029968" cy="1097280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1865376"/>
            <a:ext cx="184708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which documents to use as context (checkboxes). Mixed selection — use 3 SharePoint docs + 2 GitHub files together.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58000" y="1353312"/>
            <a:ext cx="2029968" cy="475488"/>
          </a:xfrm>
          <a:prstGeom prst="rect">
            <a:avLst/>
          </a:prstGeom>
          <a:solidFill>
            <a:srgbClr val="007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0" y="135331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58000" y="1828800"/>
            <a:ext cx="2029968" cy="1097280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49440" y="1865376"/>
            <a:ext cx="184708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 question. AI answers using YOUR documents first, GDA domain expertise second. Every answer cites the source document.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4320" y="301752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Document Sources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3337560"/>
            <a:ext cx="2743200" cy="274320"/>
          </a:xfrm>
          <a:prstGeom prst="rect">
            <a:avLst/>
          </a:prstGeom>
          <a:solidFill>
            <a:srgbClr val="080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3337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011680" y="3374136"/>
            <a:ext cx="914400" cy="201168"/>
          </a:xfrm>
          <a:prstGeom prst="rect">
            <a:avLst/>
          </a:prstGeom>
          <a:solidFill>
            <a:srgbClr val="D5DBE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011680" y="337413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Available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" y="3611880"/>
            <a:ext cx="2743200" cy="438912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5760" y="36393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for public repos (no auth). Private repos with PAT. Navigate folders. Add all files in a directory.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182112" y="3337560"/>
            <a:ext cx="2743200" cy="2743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73552" y="3337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919472" y="3374136"/>
            <a:ext cx="914400" cy="201168"/>
          </a:xfrm>
          <a:prstGeom prst="rect">
            <a:avLst/>
          </a:prstGeom>
          <a:solidFill>
            <a:srgbClr val="D5DBE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19472" y="337413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Available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182112" y="3611880"/>
            <a:ext cx="2743200" cy="438912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273552" y="36393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or browse. TXT, MD, HTML, CSV, JSON, XML. DOCX (Word) via mammoth.js. PDF text extraction.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089904" y="3337560"/>
            <a:ext cx="2743200" cy="27432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181344" y="3337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827264" y="3374136"/>
            <a:ext cx="914400" cy="201168"/>
          </a:xfrm>
          <a:prstGeom prst="rect">
            <a:avLst/>
          </a:prstGeom>
          <a:solidFill>
            <a:srgbClr val="D5DBE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827264" y="337413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Paste/Upload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089904" y="3611880"/>
            <a:ext cx="2743200" cy="438912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181344" y="36393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doc then upload. Or copy all (Ctrl+A) then paste in Paste tab. Step-by-step guidance built in.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4320" y="4087368"/>
            <a:ext cx="2743200" cy="2743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65760" y="40873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Livelink / OpenText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011680" y="4123944"/>
            <a:ext cx="914400" cy="201168"/>
          </a:xfrm>
          <a:prstGeom prst="rect">
            <a:avLst/>
          </a:prstGeom>
          <a:solidFill>
            <a:srgbClr val="D5DBE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011680" y="412394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Paste/Upload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74320" y="4361688"/>
            <a:ext cx="2743200" cy="438912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65760" y="43891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workflow as SharePoint — download and upload, or copy-paste content. No server-side auth needed.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182112" y="4087368"/>
            <a:ext cx="2743200" cy="2743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273552" y="40873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Fetch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919472" y="4123944"/>
            <a:ext cx="914400" cy="201168"/>
          </a:xfrm>
          <a:prstGeom prst="rect">
            <a:avLst/>
          </a:prstGeom>
          <a:solidFill>
            <a:srgbClr val="D5DBE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919472" y="412394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URLs only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182112" y="4361688"/>
            <a:ext cx="2743200" cy="438912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273552" y="43891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URLs and GitHub raw file links. CORS may block some sites — guidance provided to convert GitHub URLs.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089904" y="4087368"/>
            <a:ext cx="2743200" cy="274320"/>
          </a:xfrm>
          <a:prstGeom prst="rect">
            <a:avLst/>
          </a:prstGeom>
          <a:solidFill>
            <a:srgbClr val="007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181344" y="40873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Content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7827264" y="4123944"/>
            <a:ext cx="914400" cy="201168"/>
          </a:xfrm>
          <a:prstGeom prst="rect">
            <a:avLst/>
          </a:prstGeom>
          <a:solidFill>
            <a:srgbClr val="D5DBE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827264" y="412394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Universal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089904" y="4361688"/>
            <a:ext cx="2743200" cy="438912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181344" y="43891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connector — paste from any source. Email, browser, Teams, Slack, SharePoint previews.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8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27432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Domain Intelligence Platform  |  Metasoft Solutions LLC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0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Value: Measurable Impact Across Speed, Cost, Accuracy, and Compliance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replaces months of consulting engagement and transforms GDA onboarding from quarters to hours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2057400" cy="685800"/>
          </a:xfrm>
          <a:prstGeom prst="rect">
            <a:avLst/>
          </a:prstGeom>
          <a:solidFill>
            <a:srgbClr val="007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10058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56032" y="171907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GDA onboarding time for new team members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005840"/>
            <a:ext cx="2057400" cy="6858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68880" y="10058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$150K+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68880" y="171907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consulting spend replaced per year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81728" y="1005840"/>
            <a:ext cx="2057400" cy="6858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81728" y="10058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81728" y="171907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FMLA/ADA/PFML compliance framework coverage — all laws, all states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94576" y="1005840"/>
            <a:ext cx="2057400" cy="68580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94576" y="10058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894576" y="171907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infrastructure required — standalone HTML, no servers, no installation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6032" y="235915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After: Knowledge Access for GDA Team Members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6032" y="2651760"/>
            <a:ext cx="8686800" cy="274320"/>
          </a:xfrm>
          <a:prstGeom prst="rect">
            <a:avLst/>
          </a:prstGeom>
          <a:solidFill>
            <a:srgbClr val="080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8912" y="267004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64992" y="267004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36792" y="267004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(GDA Platform)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" y="2962656"/>
            <a:ext cx="8686800" cy="28346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92608" y="299923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FMLA/ADA law knowledge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944368" y="2962656"/>
            <a:ext cx="18288" cy="28346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999232" y="299923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6–9 months reading, training, and practice cases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870448" y="2962656"/>
            <a:ext cx="18288" cy="28346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25312" y="299923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immediately via 14-module structured guide + AI Advisor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6032" y="3264408"/>
            <a:ext cx="8686800" cy="28346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92608" y="3300984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FINEOS configuration guidance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944368" y="3264408"/>
            <a:ext cx="18288" cy="28346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999232" y="330098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FINEOS training, consulting, or peer shadow sessions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870448" y="3264408"/>
            <a:ext cx="18288" cy="28346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925312" y="3300984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FINEOS WorkPlace &amp; Claims implementation guide built in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56032" y="3566160"/>
            <a:ext cx="8686800" cy="28346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92608" y="3602736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 integration questions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944368" y="3566160"/>
            <a:ext cx="18288" cy="28346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999232" y="360273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IT/integration team or consulting engagement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870448" y="3566160"/>
            <a:ext cx="18288" cy="28346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925312" y="360273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field data mapping, 3 integration patterns, common errors documented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56032" y="3867912"/>
            <a:ext cx="8686800" cy="28346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92608" y="3904488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analysis (e.g. NY employee maternity)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944368" y="3867912"/>
            <a:ext cx="18288" cy="28346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999232" y="3904488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senior examiner or legal/compliance consultation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870448" y="3867912"/>
            <a:ext cx="18288" cy="28346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925312" y="390448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pre-built scenarios with day-by-day timelines and financial calculations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56032" y="4169664"/>
            <a:ext cx="8686800" cy="28346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92608" y="420624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Document-based Q&amp;A (policies, configs)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944368" y="4169664"/>
            <a:ext cx="18288" cy="28346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999232" y="420624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searching SharePoint, emailing team members, consulting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870448" y="4169664"/>
            <a:ext cx="18288" cy="28346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925312" y="420624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docs from GitHub/SharePoint → ask questions → cited answers in seconds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56032" y="4471416"/>
            <a:ext cx="8686800" cy="28346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92608" y="450799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reports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944368" y="4471416"/>
            <a:ext cx="18288" cy="28346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999232" y="450799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carrier reporting team or FINEOS DataHub configuration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870448" y="4471416"/>
            <a:ext cx="18288" cy="28346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925312" y="450799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report templates with sample data, interactive dashboard, Chart.js visuals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8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27432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Domain Intelligence Platform  |  Metasoft Solutions LLC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0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Roadmap: Three Horizons to Full Operational Deployment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adoption path from individual use to enterprise integration to platform evolution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2788920" cy="502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9184" y="1024128"/>
            <a:ext cx="26517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11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1: ADOPT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6032" y="1508760"/>
            <a:ext cx="2788920" cy="228600"/>
          </a:xfrm>
          <a:prstGeom prst="rect">
            <a:avLst/>
          </a:prstGeom>
          <a:solidFill>
            <a:srgbClr val="80DE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1508760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&amp; Team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" y="1737360"/>
            <a:ext cx="2788920" cy="2468880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177393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Download GDA Bible and distribute to GDA team — Day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" y="215798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Complete all 14 modules in sequence (recommended learning path built in)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" y="25420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Run the 3 benefit calculators against real claims to validate understanding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" y="29260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Use AI Domain Advisor for questions that come up in daily work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" y="331012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Load your existing FINEOS config docs and SharePoint policies into Document Hub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" y="369417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Onboard 2–3 new team members using the platform instead of shadow training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" y="4206240"/>
            <a:ext cx="2788920" cy="530352"/>
          </a:xfrm>
          <a:prstGeom prst="rect">
            <a:avLst/>
          </a:prstGeom>
          <a:solidFill>
            <a:srgbClr val="E0F7FA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7472" y="4224528"/>
            <a:ext cx="2606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Full team proficient in GDA fundamentals + FINEOS guide within 30 days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82112" y="1005840"/>
            <a:ext cx="2788920" cy="5029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55264" y="1024128"/>
            <a:ext cx="26517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30–90 Days</a:t>
            </a:r>
            <a:endParaRPr lang="en-US" sz="11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2: INTEGRATE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182112" y="1508760"/>
            <a:ext cx="2788920" cy="228600"/>
          </a:xfrm>
          <a:prstGeom prst="rect">
            <a:avLst/>
          </a:prstGeom>
          <a:solidFill>
            <a:srgbClr val="90CA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182112" y="1508760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Operations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82112" y="1737360"/>
            <a:ext cx="2788920" cy="2468880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73552" y="177393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Connect Document Intelligence Hub to your GitHub repo of FINEOS configurations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73552" y="215798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Load MetLife-specific GDA policy documents from SharePoint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73552" y="25420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Configure VirtuCDAIO with MetLife org profile, team size, cloud platform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73552" y="29260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Run the 5 built-in assessments: DQ, Maturity, DMBOK, AI Governance, Architecture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73552" y="331012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Use Board Reports module to generate executive GDA program updates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73552" y="369417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Pilot the 8 report templates with real claims data for accuracy validation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82112" y="4206240"/>
            <a:ext cx="2788920" cy="530352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73552" y="4224528"/>
            <a:ext cx="2606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Platform integrated with organizational document sources; reports in production use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08192" y="1005840"/>
            <a:ext cx="2788920" cy="50292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181344" y="1024128"/>
            <a:ext cx="26517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90–180 Days</a:t>
            </a:r>
            <a:endParaRPr lang="en-US" sz="11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3: EVOLVE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08192" y="1508760"/>
            <a:ext cx="2788920" cy="228600"/>
          </a:xfrm>
          <a:prstGeom prst="rect">
            <a:avLst/>
          </a:prstGeom>
          <a:solidFill>
            <a:srgbClr val="CE9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108192" y="1508760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Strategic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08192" y="1737360"/>
            <a:ext cx="2788920" cy="2468880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199632" y="177393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Add MetLife-specific FINEOS scenarios to the Scenarios module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99632" y="215798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Build custom report templates using the platform as a knowledge base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99632" y="25420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Integrate FINEOS API (if available) for real-time claim status in Document Hub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99632" y="29260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Develop GDA-specific PFML scenarios for the states MetLife operates in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99632" y="331012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Share platform with MetLife GDA leadership for executive knowledge sharing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199632" y="369417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Evaluate agentic AI capabilities (FINEOS configuration agent, claim routing agent)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08192" y="4206240"/>
            <a:ext cx="2788920" cy="530352"/>
          </a:xfrm>
          <a:prstGeom prst="rect">
            <a:avLst/>
          </a:prstGeom>
          <a:solidFill>
            <a:srgbClr val="F3E5F5"/>
          </a:solidFill>
          <a:ln w="635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199632" y="4224528"/>
            <a:ext cx="2606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Platform becomes the single source of truth for MetLife GDA knowledge and reporting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8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7432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Domain Intelligence Platform  |  Metasoft Solutions LLC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1097280"/>
            <a:ext cx="3840480" cy="3840480"/>
          </a:xfrm>
          <a:prstGeom prst="ellipse">
            <a:avLst/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1828800"/>
            <a:ext cx="2560320" cy="2560320"/>
          </a:xfrm>
          <a:prstGeom prst="ellipse">
            <a:avLst/>
          </a:prstGeom>
          <a:solidFill>
            <a:srgbClr val="0D1830"/>
          </a:solidFill>
          <a:ln w="12700">
            <a:solidFill>
              <a:srgbClr val="0D1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41248"/>
            <a:ext cx="5303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GDA knowledge — on demand,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team member, from Day 1.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581912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months of consulting ramp-up with AI-powered mastery — connecting GitHub, SharePoint, and Livelink directly to domain expertise.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2560320" cy="2743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0352" y="2148840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Coverage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04872"/>
            <a:ext cx="2560320" cy="658368"/>
          </a:xfrm>
          <a:prstGeom prst="rect">
            <a:avLst/>
          </a:prstGeom>
          <a:solidFill>
            <a:srgbClr val="122040"/>
          </a:solidFill>
          <a:ln w="6350">
            <a:solidFill>
              <a:srgbClr val="0D1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432304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modules: all federal laws, state PFML, STD, LTD, FINEOS, Workday, scenarios, reports, glossary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2148840"/>
            <a:ext cx="2560320" cy="2743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73552" y="2148840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Friction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2404872"/>
            <a:ext cx="2560320" cy="658368"/>
          </a:xfrm>
          <a:prstGeom prst="rect">
            <a:avLst/>
          </a:prstGeom>
          <a:solidFill>
            <a:srgbClr val="122040"/>
          </a:solidFill>
          <a:ln w="6350">
            <a:solidFill>
              <a:srgbClr val="0D1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91840" y="2432304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HTML — double-click to run. No installation, no servers, no IT. Works offline for all content.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172968"/>
            <a:ext cx="2560320" cy="27432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0352" y="317296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429000"/>
            <a:ext cx="2560320" cy="658368"/>
          </a:xfrm>
          <a:prstGeom prst="rect">
            <a:avLst/>
          </a:prstGeom>
          <a:solidFill>
            <a:srgbClr val="122040"/>
          </a:solidFill>
          <a:ln w="6350">
            <a:solidFill>
              <a:srgbClr val="0D1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345643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GitHub, SharePoint, Livelink documents and get AI-powered answers citing your own sources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0" y="3172968"/>
            <a:ext cx="2560320" cy="274320"/>
          </a:xfrm>
          <a:prstGeom prst="rect">
            <a:avLst/>
          </a:prstGeom>
          <a:solidFill>
            <a:srgbClr val="007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73552" y="317296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Value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0" y="3429000"/>
            <a:ext cx="2560320" cy="658368"/>
          </a:xfrm>
          <a:prstGeom prst="rect">
            <a:avLst/>
          </a:prstGeom>
          <a:solidFill>
            <a:srgbClr val="122040"/>
          </a:solidFill>
          <a:ln w="6350">
            <a:solidFill>
              <a:srgbClr val="0D1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91840" y="345643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months of consulting ramp-up. Available to the entire GDA team today, at zero marginal cost.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Metasoft Solutions LLC  |  Imdad — Senior Director, Global Technology Operations  |  MetLife GDA Intelligence Platform  |  August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3816</Words>
  <Application>Microsoft Macintosh PowerPoint</Application>
  <PresentationFormat>On-screen Show (16:9)</PresentationFormat>
  <Paragraphs>466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GDA Domain Intelligence Platform — Executive Overview</dc:title>
  <dc:subject>PptxGenJS Presentation</dc:subject>
  <dc:creator>Metasoft Solutions LLC</dc:creator>
  <cp:lastModifiedBy>Fareeha Shaik</cp:lastModifiedBy>
  <cp:revision>1</cp:revision>
  <dcterms:created xsi:type="dcterms:W3CDTF">2026-08-19T20:40:00Z</dcterms:created>
  <dcterms:modified xsi:type="dcterms:W3CDTF">2026-08-20T03:43:47Z</dcterms:modified>
</cp:coreProperties>
</file>