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40"/>
    <p:restoredTop sz="94681"/>
  </p:normalViewPr>
  <p:slideViewPr>
    <p:cSldViewPr snapToGrid="0">
      <p:cViewPr varScale="1">
        <p:scale>
          <a:sx n="173" d="100"/>
          <a:sy n="173" d="100"/>
        </p:scale>
        <p:origin x="6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work/VirtuCISO_Assessment_Platform_for_Mac/START_HERE.txt</a:t>
            </a:r>
          </a:p>
          <a:p>
            <a:r>
              <a:t>- Local utility source: /Users/imdad/Downloads/VirtuCISO.jsx</a:t>
            </a:r>
          </a:p>
          <a:p>
            <a:r>
              <a:t>- Local connection guide: work/VirtuCISO_Assessment_Platform_for_Mac/DATA_CONNECTION_GUIDE.txt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work/VirtuCISO_Assessment_Platform_for_Mac/START_HERE.txt</a:t>
            </a:r>
          </a:p>
          <a:p>
            <a:r>
              <a:t>- Local utility source: /Users/imdad/Downloads/VirtuCISO.jsx</a:t>
            </a:r>
          </a:p>
          <a:p>
            <a:r>
              <a:t>- Local connection guide: work/VirtuCISO_Assessment_Platform_for_Mac/DATA_CONNECTION_GUIDE.txt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work/VirtuCISO_Assessment_Platform_for_Mac/START_HERE.txt</a:t>
            </a:r>
          </a:p>
          <a:p>
            <a:r>
              <a:t>- Local utility source: /Users/imdad/Downloads/VirtuCISO.jsx</a:t>
            </a:r>
          </a:p>
          <a:p>
            <a:r>
              <a:t>- Local connection guide: work/VirtuCISO_Assessment_Platform_for_Mac/DATA_CONNECTION_GUIDE.txt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work/VirtuCISO_Assessment_Platform_for_Mac/START_HERE.txt</a:t>
            </a:r>
          </a:p>
          <a:p>
            <a:r>
              <a:t>- Local utility source: /Users/imdad/Downloads/VirtuCISO.jsx</a:t>
            </a:r>
          </a:p>
          <a:p>
            <a:r>
              <a:t>- Local connection guide: work/VirtuCISO_Assessment_Platform_for_Mac/DATA_CONNECTION_GUIDE.txt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work/VirtuCISO_Assessment_Platform_for_Mac/START_HERE.txt</a:t>
            </a:r>
          </a:p>
          <a:p>
            <a:r>
              <a:t>- Local utility source: /Users/imdad/Downloads/VirtuCISO.jsx</a:t>
            </a:r>
          </a:p>
          <a:p>
            <a:r>
              <a:t>- Local connection guide: work/VirtuCISO_Assessment_Platform_for_Mac/DATA_CONNECTION_GUIDE.txt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work/VirtuCISO_Assessment_Platform_for_Mac/START_HERE.txt</a:t>
            </a:r>
          </a:p>
          <a:p>
            <a:r>
              <a:t>- Local utility source: /Users/imdad/Downloads/VirtuCISO.jsx</a:t>
            </a:r>
          </a:p>
          <a:p>
            <a:r>
              <a:t>- Local connection guide: work/VirtuCISO_Assessment_Platform_for_Mac/DATA_CONNECTION_GUIDE.txt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work/VirtuCISO_Assessment_Platform_for_Mac/START_HERE.txt</a:t>
            </a:r>
          </a:p>
          <a:p>
            <a:r>
              <a:t>- Local utility source: /Users/imdad/Downloads/VirtuCISO.jsx</a:t>
            </a:r>
          </a:p>
          <a:p>
            <a:r>
              <a:t>- Local connection guide: work/VirtuCISO_Assessment_Platform_for_Mac/DATA_CONNECTION_GUIDE.txt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work/VirtuCISO_Assessment_Platform_for_Mac/START_HERE.txt</a:t>
            </a:r>
          </a:p>
          <a:p>
            <a:r>
              <a:t>- Local utility source: /Users/imdad/Downloads/VirtuCISO.jsx</a:t>
            </a:r>
          </a:p>
          <a:p>
            <a:r>
              <a:t>- Local connection guide: work/VirtuCISO_Assessment_Platform_for_Mac/DATA_CONNECTION_GUIDE.txt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work/VirtuCISO_Assessment_Platform_for_Mac/START_HERE.txt</a:t>
            </a:r>
          </a:p>
          <a:p>
            <a:r>
              <a:t>- Local utility source: /Users/imdad/Downloads/VirtuCISO.jsx</a:t>
            </a:r>
          </a:p>
          <a:p>
            <a:r>
              <a:t>- Local connection guide: work/VirtuCISO_Assessment_Platform_for_Mac/DATA_CONNECTION_GUIDE.txt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Local utility: work/VirtuCISO_Assessment_Platform_for_Mac/START_HERE.txt</a:t>
            </a:r>
          </a:p>
          <a:p>
            <a:r>
              <a:t>- Local utility source: /Users/imdad/Downloads/VirtuCISO.jsx</a:t>
            </a:r>
          </a:p>
          <a:p>
            <a:r>
              <a:t>- Local connection guide: work/VirtuCISO_Assessment_Platform_for_Mac/DATA_CONNECTION_GUIDE.txt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0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E9BF02-6A45-4895-A004-2E354C9B72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ect">
            <a:avLst/>
          </a:prstGeom>
          <a:solidFill>
            <a:srgbClr val="E35D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8FB783-9B57-4903-8731-D0DA8B0F476E}"/>
              </a:ext>
            </a:extLst>
          </p:cNvPr>
          <p:cNvSpPr>
            <a:spLocks noGrp="1"/>
          </p:cNvSpPr>
          <p:nvPr/>
        </p:nvSpPr>
        <p:spPr>
          <a:xfrm>
            <a:off x="742950" y="666750"/>
            <a:ext cx="3333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E35D5B"/>
                </a:solidFill>
              </a:defRPr>
            </a:pPr>
            <a:r>
              <a:rPr sz="975" b="1">
                <a:solidFill>
                  <a:srgbClr val="E35D5B"/>
                </a:solidFill>
              </a:rPr>
              <a:t>EXECUTIVE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D8BB29-84AB-4B41-94B2-9376B9FFEDBB}"/>
              </a:ext>
            </a:extLst>
          </p:cNvPr>
          <p:cNvSpPr>
            <a:spLocks noGrp="1"/>
          </p:cNvSpPr>
          <p:nvPr/>
        </p:nvSpPr>
        <p:spPr>
          <a:xfrm>
            <a:off x="742950" y="1676400"/>
            <a:ext cx="857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VirtuCISO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1445DF-24FB-4231-80DC-5CCD6393DEEA}"/>
              </a:ext>
            </a:extLst>
          </p:cNvPr>
          <p:cNvSpPr>
            <a:spLocks noGrp="1"/>
          </p:cNvSpPr>
          <p:nvPr/>
        </p:nvSpPr>
        <p:spPr>
          <a:xfrm>
            <a:off x="742950" y="2619375"/>
            <a:ext cx="7239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0">
                <a:solidFill>
                  <a:srgbClr val="C6D3DD"/>
                </a:solidFill>
              </a:defRPr>
            </a:pPr>
            <a:r>
              <a:rPr sz="1950" b="0">
                <a:solidFill>
                  <a:srgbClr val="C6D3DD"/>
                </a:solidFill>
              </a:rPr>
              <a:t>A local-first security leadership and assessment accelerator</a:t>
            </a: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02277167-57E8-4997-9C1C-FDA3881F0318}"/>
              </a:ext>
            </a:extLst>
          </p:cNvPr>
          <p:cNvSpPr>
            <a:spLocks noGrp="1"/>
          </p:cNvSpPr>
          <p:nvPr/>
        </p:nvSpPr>
        <p:spPr>
          <a:xfrm>
            <a:off x="742950" y="4048125"/>
            <a:ext cx="1714500" cy="9525"/>
          </a:xfrm>
          <a:prstGeom prst="line">
            <a:avLst/>
          </a:prstGeom>
          <a:noFill/>
          <a:ln w="47625">
            <a:solidFill>
              <a:srgbClr val="E35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0E3493-3DB0-4A04-99B1-981F53678C79}"/>
              </a:ext>
            </a:extLst>
          </p:cNvPr>
          <p:cNvSpPr>
            <a:spLocks noGrp="1"/>
          </p:cNvSpPr>
          <p:nvPr/>
        </p:nvSpPr>
        <p:spPr>
          <a:xfrm>
            <a:off x="742950" y="4305300"/>
            <a:ext cx="4953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9FB2C1"/>
                </a:solidFill>
              </a:defRPr>
            </a:pPr>
            <a:r>
              <a:rPr sz="1275" b="0">
                <a:solidFill>
                  <a:srgbClr val="9FB2C1"/>
                </a:solidFill>
              </a:rPr>
              <a:t>Current utility build • Executive discussion draft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F7E637-F174-413E-AC38-B22BF1149A32}"/>
              </a:ext>
            </a:extLst>
          </p:cNvPr>
          <p:cNvSpPr>
            <a:spLocks noGrp="1"/>
          </p:cNvSpPr>
          <p:nvPr/>
        </p:nvSpPr>
        <p:spPr>
          <a:xfrm>
            <a:off x="742950" y="590550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9FB2C1"/>
                </a:solidFill>
              </a:defRPr>
            </a:pPr>
            <a:r>
              <a:rPr sz="1125" b="0">
                <a:solidFill>
                  <a:srgbClr val="9FB2C1"/>
                </a:solidFill>
              </a:rPr>
              <a:t>Decision-ready overview • capabilities • architecture • deployment</a:t>
            </a:r>
          </a:p>
        </p:txBody>
      </p:sp>
    </p:spTree>
    <p:extLst>
      <p:ext uri="{BB962C8B-B14F-4D97-AF65-F5344CB8AC3E}">
        <p14:creationId xmlns:p14="http://schemas.microsoft.com/office/powerpoint/2010/main" val="828716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37BB57A6-20A2-40A1-9D72-B44B501DEC30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35D5B"/>
                </a:solidFill>
              </a:defRPr>
            </a:pPr>
            <a:r>
              <a:rPr sz="900" b="1">
                <a:solidFill>
                  <a:srgbClr val="E35D5B"/>
                </a:solidFill>
              </a:rPr>
              <a:t>EXECUTIVE THESIS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686118-3DEF-4039-8EF2-266FD1FF230A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VirtuCISO creates a common control plane for security decisions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27948028-CD29-4856-B046-D16738F015C1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1E31BF-8AC9-479B-A82A-CE45455CCDC7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VirtuCISO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34A193-7A57-4A15-886F-514426459BD3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F620F7-A03E-4BE9-B72A-39BBA70A0A27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477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038"/>
                </a:solidFill>
              </a:defRPr>
            </a:pPr>
            <a:r>
              <a:rPr sz="1800" b="1">
                <a:solidFill>
                  <a:srgbClr val="0B2038"/>
                </a:solidFill>
              </a:rPr>
              <a:t>The platform is designed to compress the path from fragmented evidence to an executive decision—without replacing accountable security leadership.</a:t>
            </a:r>
          </a:p>
        </p:txBody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17D1BC2A-FBBA-475E-9DAF-1776F6BF34D9}"/>
              </a:ext>
            </a:extLst>
          </p:cNvPr>
          <p:cNvSpPr>
            <a:spLocks noGrp="1"/>
          </p:cNvSpPr>
          <p:nvPr/>
        </p:nvSpPr>
        <p:spPr>
          <a:xfrm>
            <a:off x="685800" y="2571750"/>
            <a:ext cx="523875" cy="9525"/>
          </a:xfrm>
          <a:prstGeom prst="line">
            <a:avLst/>
          </a:prstGeom>
          <a:noFill/>
          <a:ln w="47625">
            <a:solidFill>
              <a:srgbClr val="E35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FA1C6D6-32C9-4BE9-983B-1386A61A0812}"/>
              </a:ext>
            </a:extLst>
          </p:cNvPr>
          <p:cNvSpPr>
            <a:spLocks noGrp="1"/>
          </p:cNvSpPr>
          <p:nvPr/>
        </p:nvSpPr>
        <p:spPr>
          <a:xfrm>
            <a:off x="685800" y="27432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038"/>
                </a:solidFill>
              </a:defRPr>
            </a:pPr>
            <a:r>
              <a:rPr sz="1800" b="1">
                <a:solidFill>
                  <a:srgbClr val="0B2038"/>
                </a:solidFill>
              </a:rPr>
              <a:t>Unify the agenda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0E4859-1371-43A5-A8E8-EC8B88D1ECB9}"/>
              </a:ext>
            </a:extLst>
          </p:cNvPr>
          <p:cNvSpPr>
            <a:spLocks noGrp="1"/>
          </p:cNvSpPr>
          <p:nvPr/>
        </p:nvSpPr>
        <p:spPr>
          <a:xfrm>
            <a:off x="685800" y="3371850"/>
            <a:ext cx="3143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Bring risk, compliance, incidents, vulnerabilities, vendors, policies, audits and AI-security topics into one operating view.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2CFCAE13-E70F-461F-8D03-0BBA29516450}"/>
              </a:ext>
            </a:extLst>
          </p:cNvPr>
          <p:cNvSpPr>
            <a:spLocks noGrp="1"/>
          </p:cNvSpPr>
          <p:nvPr/>
        </p:nvSpPr>
        <p:spPr>
          <a:xfrm>
            <a:off x="4524375" y="2571750"/>
            <a:ext cx="523875" cy="9525"/>
          </a:xfrm>
          <a:prstGeom prst="line">
            <a:avLst/>
          </a:prstGeom>
          <a:noFill/>
          <a:ln w="47625">
            <a:solidFill>
              <a:srgbClr val="0B8A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99C2F8-06A1-475A-8523-DBD934CB4BB4}"/>
              </a:ext>
            </a:extLst>
          </p:cNvPr>
          <p:cNvSpPr>
            <a:spLocks noGrp="1"/>
          </p:cNvSpPr>
          <p:nvPr/>
        </p:nvSpPr>
        <p:spPr>
          <a:xfrm>
            <a:off x="4524375" y="27432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038"/>
                </a:solidFill>
              </a:defRPr>
            </a:pPr>
            <a:r>
              <a:rPr sz="1800" b="1">
                <a:solidFill>
                  <a:srgbClr val="0B2038"/>
                </a:solidFill>
              </a:rPr>
              <a:t>Standardize judgment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6A8074-DDD0-447B-B7EA-9680397076A7}"/>
              </a:ext>
            </a:extLst>
          </p:cNvPr>
          <p:cNvSpPr>
            <a:spLocks noGrp="1"/>
          </p:cNvSpPr>
          <p:nvPr/>
        </p:nvSpPr>
        <p:spPr>
          <a:xfrm>
            <a:off x="4524375" y="3371850"/>
            <a:ext cx="3143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Use guided outcomes, evidence requests and a 0–4 maturity scale to make assessment logic repeatable and reviewable.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97435D4D-E8BA-4B58-BBFC-4BF6EC7BE60F}"/>
              </a:ext>
            </a:extLst>
          </p:cNvPr>
          <p:cNvSpPr>
            <a:spLocks noGrp="1"/>
          </p:cNvSpPr>
          <p:nvPr/>
        </p:nvSpPr>
        <p:spPr>
          <a:xfrm>
            <a:off x="8362950" y="2571750"/>
            <a:ext cx="523875" cy="9525"/>
          </a:xfrm>
          <a:prstGeom prst="line">
            <a:avLst/>
          </a:prstGeom>
          <a:noFill/>
          <a:ln w="47625">
            <a:solidFill>
              <a:srgbClr val="2B6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156F661-0EA5-40BF-91D0-EF44C112C62E}"/>
              </a:ext>
            </a:extLst>
          </p:cNvPr>
          <p:cNvSpPr>
            <a:spLocks noGrp="1"/>
          </p:cNvSpPr>
          <p:nvPr/>
        </p:nvSpPr>
        <p:spPr>
          <a:xfrm>
            <a:off x="8362950" y="2743200"/>
            <a:ext cx="3143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038"/>
                </a:solidFill>
              </a:defRPr>
            </a:pPr>
            <a:r>
              <a:rPr sz="1800" b="1">
                <a:solidFill>
                  <a:srgbClr val="0B2038"/>
                </a:solidFill>
              </a:rPr>
              <a:t>Accelerate action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7B12E0-09D0-4426-AC6D-CE82C75061A9}"/>
              </a:ext>
            </a:extLst>
          </p:cNvPr>
          <p:cNvSpPr>
            <a:spLocks noGrp="1"/>
          </p:cNvSpPr>
          <p:nvPr/>
        </p:nvSpPr>
        <p:spPr>
          <a:xfrm>
            <a:off x="8362950" y="3371850"/>
            <a:ext cx="31432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Convert weak outcomes into findings, owners and reassessment—then translate posture into board-ready reporting.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3456D6-949D-495A-AC65-52C1AAF3326A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2000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35D5B"/>
                </a:solidFill>
              </a:defRPr>
            </a:pPr>
            <a:r>
              <a:rPr sz="1050" b="1">
                <a:solidFill>
                  <a:srgbClr val="E35D5B"/>
                </a:solidFill>
              </a:rPr>
              <a:t>Executive implication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119D499-EA12-46B3-AD3E-1CC58BFF3144}"/>
              </a:ext>
            </a:extLst>
          </p:cNvPr>
          <p:cNvSpPr>
            <a:spLocks noGrp="1"/>
          </p:cNvSpPr>
          <p:nvPr/>
        </p:nvSpPr>
        <p:spPr>
          <a:xfrm>
            <a:off x="2571750" y="5524500"/>
            <a:ext cx="8477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82838"/>
                </a:solidFill>
              </a:defRPr>
            </a:pPr>
            <a:r>
              <a:rPr sz="1425" b="1">
                <a:solidFill>
                  <a:srgbClr val="182838"/>
                </a:solidFill>
              </a:rPr>
              <a:t>Start as an assessment accelerator; promote to an enterprise capability only after integration, identity, retention and assurance controls are hardened.</a:t>
            </a:r>
          </a:p>
        </p:txBody>
      </p:sp>
    </p:spTree>
    <p:extLst>
      <p:ext uri="{BB962C8B-B14F-4D97-AF65-F5344CB8AC3E}">
        <p14:creationId xmlns:p14="http://schemas.microsoft.com/office/powerpoint/2010/main" val="74448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AB814870-FF6B-4CB6-8126-B80488E2CF31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35D5B"/>
                </a:solidFill>
              </a:defRPr>
            </a:pPr>
            <a:r>
              <a:rPr sz="900" b="1">
                <a:solidFill>
                  <a:srgbClr val="E35D5B"/>
                </a:solidFill>
              </a:rPr>
              <a:t>CAPABILITY SYSTEM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69DF18-5591-419F-A6E5-83710446E7F7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The current build covers the CISO agenda end to end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AEF346C-8BF7-4C75-8EB8-A074A1E65E0B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690902-B2E2-4481-9875-5993A9F77930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VirtuCISO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7D4C9A-4D04-4126-8CFE-882ACE51EE04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FD6CD1D-0CA9-4B09-88B2-B4055D6BF3ED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35D5B"/>
                </a:solidFill>
              </a:defRPr>
            </a:pPr>
            <a:r>
              <a:rPr sz="1350" b="1">
                <a:solidFill>
                  <a:srgbClr val="E35D5B"/>
                </a:solidFill>
              </a:rPr>
              <a:t>01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434F8F-9F63-47B0-8EC7-41C5A64308F6}"/>
              </a:ext>
            </a:extLst>
          </p:cNvPr>
          <p:cNvSpPr>
            <a:spLocks noGrp="1"/>
          </p:cNvSpPr>
          <p:nvPr/>
        </p:nvSpPr>
        <p:spPr>
          <a:xfrm>
            <a:off x="685800" y="2000250"/>
            <a:ext cx="185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038"/>
                </a:solidFill>
              </a:defRPr>
            </a:pPr>
            <a:r>
              <a:rPr sz="1650" b="1">
                <a:solidFill>
                  <a:srgbClr val="0B2038"/>
                </a:solidFill>
              </a:rPr>
              <a:t>Govern &amp; steer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5A46B9-7800-46C8-BE44-FE47482272D6}"/>
              </a:ext>
            </a:extLst>
          </p:cNvPr>
          <p:cNvSpPr>
            <a:spLocks noGrp="1"/>
          </p:cNvSpPr>
          <p:nvPr/>
        </p:nvSpPr>
        <p:spPr>
          <a:xfrm>
            <a:off x="685800" y="2667000"/>
            <a:ext cx="1809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Executive dashboard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Risk register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Policy library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Board reporting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0F15AC4A-DEB9-43AF-AA3F-D73CCD34E879}"/>
              </a:ext>
            </a:extLst>
          </p:cNvPr>
          <p:cNvSpPr>
            <a:spLocks noGrp="1"/>
          </p:cNvSpPr>
          <p:nvPr/>
        </p:nvSpPr>
        <p:spPr>
          <a:xfrm>
            <a:off x="2638425" y="1666875"/>
            <a:ext cx="9525" cy="323850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44A808-EA0E-4478-A05B-F3D49E922B1F}"/>
              </a:ext>
            </a:extLst>
          </p:cNvPr>
          <p:cNvSpPr>
            <a:spLocks noGrp="1"/>
          </p:cNvSpPr>
          <p:nvPr/>
        </p:nvSpPr>
        <p:spPr>
          <a:xfrm>
            <a:off x="2847975" y="161925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8A89"/>
                </a:solidFill>
              </a:defRPr>
            </a:pPr>
            <a:r>
              <a:rPr sz="1350" b="1">
                <a:solidFill>
                  <a:srgbClr val="0B8A89"/>
                </a:solidFill>
              </a:rPr>
              <a:t>02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204AB35-48FB-4DD5-874F-3A83409B8AF4}"/>
              </a:ext>
            </a:extLst>
          </p:cNvPr>
          <p:cNvSpPr>
            <a:spLocks noGrp="1"/>
          </p:cNvSpPr>
          <p:nvPr/>
        </p:nvSpPr>
        <p:spPr>
          <a:xfrm>
            <a:off x="2847975" y="2000250"/>
            <a:ext cx="185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038"/>
                </a:solidFill>
              </a:defRPr>
            </a:pPr>
            <a:r>
              <a:rPr sz="1650" b="1">
                <a:solidFill>
                  <a:srgbClr val="0B2038"/>
                </a:solidFill>
              </a:rPr>
              <a:t>Assure &amp; comply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D295E0A-635D-47B8-9495-E8DD2BA97F2B}"/>
              </a:ext>
            </a:extLst>
          </p:cNvPr>
          <p:cNvSpPr>
            <a:spLocks noGrp="1"/>
          </p:cNvSpPr>
          <p:nvPr/>
        </p:nvSpPr>
        <p:spPr>
          <a:xfrm>
            <a:off x="2847975" y="2667000"/>
            <a:ext cx="1809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45 assessment types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Compliance readiness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Audit management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Evidence &amp; findings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23168F9E-A4E7-4ED4-B470-B94F9A937227}"/>
              </a:ext>
            </a:extLst>
          </p:cNvPr>
          <p:cNvSpPr>
            <a:spLocks noGrp="1"/>
          </p:cNvSpPr>
          <p:nvPr/>
        </p:nvSpPr>
        <p:spPr>
          <a:xfrm>
            <a:off x="4800600" y="1666875"/>
            <a:ext cx="9525" cy="323850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CCA26C-847E-417D-9037-6E3F569E2B51}"/>
              </a:ext>
            </a:extLst>
          </p:cNvPr>
          <p:cNvSpPr>
            <a:spLocks noGrp="1"/>
          </p:cNvSpPr>
          <p:nvPr/>
        </p:nvSpPr>
        <p:spPr>
          <a:xfrm>
            <a:off x="5010150" y="161925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B6FA6"/>
                </a:solidFill>
              </a:defRPr>
            </a:pPr>
            <a:r>
              <a:rPr sz="1350" b="1">
                <a:solidFill>
                  <a:srgbClr val="2B6FA6"/>
                </a:solidFill>
              </a:rPr>
              <a:t>03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C11148-688A-444D-B07E-1D975785796F}"/>
              </a:ext>
            </a:extLst>
          </p:cNvPr>
          <p:cNvSpPr>
            <a:spLocks noGrp="1"/>
          </p:cNvSpPr>
          <p:nvPr/>
        </p:nvSpPr>
        <p:spPr>
          <a:xfrm>
            <a:off x="5010150" y="2000250"/>
            <a:ext cx="185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038"/>
                </a:solidFill>
              </a:defRPr>
            </a:pPr>
            <a:r>
              <a:rPr sz="1650" b="1">
                <a:solidFill>
                  <a:srgbClr val="0B2038"/>
                </a:solidFill>
              </a:rPr>
              <a:t>Operate &amp; respond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B8EA25-A740-4B16-8904-0F975A298BA9}"/>
              </a:ext>
            </a:extLst>
          </p:cNvPr>
          <p:cNvSpPr>
            <a:spLocks noGrp="1"/>
          </p:cNvSpPr>
          <p:nvPr/>
        </p:nvSpPr>
        <p:spPr>
          <a:xfrm>
            <a:off x="5010150" y="2667000"/>
            <a:ext cx="1809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Incident response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Threat intelligence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Vulnerability mgmt.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Resilience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D2461CAD-5DD4-4506-A34A-72730BEFB28F}"/>
              </a:ext>
            </a:extLst>
          </p:cNvPr>
          <p:cNvSpPr>
            <a:spLocks noGrp="1"/>
          </p:cNvSpPr>
          <p:nvPr/>
        </p:nvSpPr>
        <p:spPr>
          <a:xfrm>
            <a:off x="6962775" y="1666875"/>
            <a:ext cx="9525" cy="323850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6077BA-5840-4C3A-98A2-B885F39910C4}"/>
              </a:ext>
            </a:extLst>
          </p:cNvPr>
          <p:cNvSpPr>
            <a:spLocks noGrp="1"/>
          </p:cNvSpPr>
          <p:nvPr/>
        </p:nvSpPr>
        <p:spPr>
          <a:xfrm>
            <a:off x="7172325" y="161925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5A63B"/>
                </a:solidFill>
              </a:defRPr>
            </a:pPr>
            <a:r>
              <a:rPr sz="1350" b="1">
                <a:solidFill>
                  <a:srgbClr val="E5A63B"/>
                </a:solidFill>
              </a:rPr>
              <a:t>04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0A4498-DA2A-4CAF-8C9E-058FA1A4634B}"/>
              </a:ext>
            </a:extLst>
          </p:cNvPr>
          <p:cNvSpPr>
            <a:spLocks noGrp="1"/>
          </p:cNvSpPr>
          <p:nvPr/>
        </p:nvSpPr>
        <p:spPr>
          <a:xfrm>
            <a:off x="7172325" y="2000250"/>
            <a:ext cx="185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038"/>
                </a:solidFill>
              </a:defRPr>
            </a:pPr>
            <a:r>
              <a:rPr sz="1650" b="1">
                <a:solidFill>
                  <a:srgbClr val="0B2038"/>
                </a:solidFill>
              </a:rPr>
              <a:t>Manage ecosystem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77DA2E3-30AE-4EBE-8CD0-ADEAE3F598D1}"/>
              </a:ext>
            </a:extLst>
          </p:cNvPr>
          <p:cNvSpPr>
            <a:spLocks noGrp="1"/>
          </p:cNvSpPr>
          <p:nvPr/>
        </p:nvSpPr>
        <p:spPr>
          <a:xfrm>
            <a:off x="7172325" y="2667000"/>
            <a:ext cx="1809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Third-party risk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Cloud / IAM / AppSec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OT / IoT / API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Supply chain</a:t>
            </a: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C9D2F33C-6186-4D4F-882C-73CE628671E0}"/>
              </a:ext>
            </a:extLst>
          </p:cNvPr>
          <p:cNvSpPr>
            <a:spLocks noGrp="1"/>
          </p:cNvSpPr>
          <p:nvPr/>
        </p:nvSpPr>
        <p:spPr>
          <a:xfrm>
            <a:off x="9124950" y="1666875"/>
            <a:ext cx="9525" cy="323850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004002-BA59-4B11-BF95-90C881E0CF6E}"/>
              </a:ext>
            </a:extLst>
          </p:cNvPr>
          <p:cNvSpPr>
            <a:spLocks noGrp="1"/>
          </p:cNvSpPr>
          <p:nvPr/>
        </p:nvSpPr>
        <p:spPr>
          <a:xfrm>
            <a:off x="9334500" y="1619250"/>
            <a:ext cx="571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2E8B67"/>
                </a:solidFill>
              </a:defRPr>
            </a:pPr>
            <a:r>
              <a:rPr sz="1350" b="1">
                <a:solidFill>
                  <a:srgbClr val="2E8B67"/>
                </a:solidFill>
              </a:rPr>
              <a:t>05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D508F17-BA63-4B19-BF41-4A665CF36883}"/>
              </a:ext>
            </a:extLst>
          </p:cNvPr>
          <p:cNvSpPr>
            <a:spLocks noGrp="1"/>
          </p:cNvSpPr>
          <p:nvPr/>
        </p:nvSpPr>
        <p:spPr>
          <a:xfrm>
            <a:off x="9334500" y="2000250"/>
            <a:ext cx="18573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038"/>
                </a:solidFill>
              </a:defRPr>
            </a:pPr>
            <a:r>
              <a:rPr sz="1650" b="1">
                <a:solidFill>
                  <a:srgbClr val="0B2038"/>
                </a:solidFill>
              </a:rPr>
              <a:t>Secure AI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ABA75F8-7C8D-4678-9D1F-38B9EF7DD8D0}"/>
              </a:ext>
            </a:extLst>
          </p:cNvPr>
          <p:cNvSpPr>
            <a:spLocks noGrp="1"/>
          </p:cNvSpPr>
          <p:nvPr/>
        </p:nvSpPr>
        <p:spPr>
          <a:xfrm>
            <a:off x="9334500" y="2667000"/>
            <a:ext cx="1809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AI governance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GenAI / RAG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MCP security</a:t>
            </a:r>
          </a:p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Agentic-AI assurance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38B4AE5-6F5E-4250-AA13-452854FC8BEB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10477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425" b="1">
                <a:solidFill>
                  <a:srgbClr val="182838"/>
                </a:solidFill>
              </a:defRPr>
            </a:pPr>
            <a:r>
              <a:rPr sz="1425" b="1">
                <a:solidFill>
                  <a:srgbClr val="182838"/>
                </a:solidFill>
              </a:rPr>
              <a:t>The platform is broad by design; deployment should sequence the highest-value use cases rather than activate every module at once.</a:t>
            </a:r>
          </a:p>
        </p:txBody>
      </p:sp>
    </p:spTree>
    <p:extLst>
      <p:ext uri="{BB962C8B-B14F-4D97-AF65-F5344CB8AC3E}">
        <p14:creationId xmlns:p14="http://schemas.microsoft.com/office/powerpoint/2010/main" val="1878818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E6E1BF96-BA69-4FF1-9A36-725A6E48407E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35D5B"/>
                </a:solidFill>
              </a:defRPr>
            </a:pPr>
            <a:r>
              <a:rPr sz="900" b="1">
                <a:solidFill>
                  <a:srgbClr val="E35D5B"/>
                </a:solidFill>
              </a:rPr>
              <a:t>ASSESSMENT ENGINE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EC5E29-8173-43C2-B39B-0006C172D016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The assessment library converts frameworks into evidence-backed action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ECFA89F0-2BA8-42CB-A3BB-ABDAF9932ED4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317CC1-525A-404E-93A4-3A5BF2E06E4B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VirtuCISO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A8CD57-3B76-4E1C-8FA3-52564FDCAE88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612B645-CFAA-43AA-8B0E-C06A452A4577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E35D5B"/>
                </a:solidFill>
              </a:defRPr>
            </a:pPr>
            <a:r>
              <a:rPr sz="3300" b="1">
                <a:solidFill>
                  <a:srgbClr val="E35D5B"/>
                </a:solidFill>
              </a:rPr>
              <a:t>45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E1F614-A22C-44AF-8D4D-134E8E2FF183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guided assessment types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BCB7FD-B925-4AEE-A090-FFE243C82A40}"/>
              </a:ext>
            </a:extLst>
          </p:cNvPr>
          <p:cNvSpPr>
            <a:spLocks noGrp="1"/>
          </p:cNvSpPr>
          <p:nvPr/>
        </p:nvSpPr>
        <p:spPr>
          <a:xfrm>
            <a:off x="3429000" y="1619250"/>
            <a:ext cx="3333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0B8A89"/>
                </a:solidFill>
              </a:defRPr>
            </a:pPr>
            <a:r>
              <a:rPr sz="3300" b="1">
                <a:solidFill>
                  <a:srgbClr val="0B8A89"/>
                </a:solidFill>
              </a:rPr>
              <a:t>1,000+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405150-FEAC-415A-AB6A-8AECB545BF7C}"/>
              </a:ext>
            </a:extLst>
          </p:cNvPr>
          <p:cNvSpPr>
            <a:spLocks noGrp="1"/>
          </p:cNvSpPr>
          <p:nvPr/>
        </p:nvSpPr>
        <p:spPr>
          <a:xfrm>
            <a:off x="3429000" y="2190750"/>
            <a:ext cx="3333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control instances in the current build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CC9C72-8605-4529-96A5-3CA413ABDC0E}"/>
              </a:ext>
            </a:extLst>
          </p:cNvPr>
          <p:cNvSpPr>
            <a:spLocks noGrp="1"/>
          </p:cNvSpPr>
          <p:nvPr/>
        </p:nvSpPr>
        <p:spPr>
          <a:xfrm>
            <a:off x="7239000" y="1619250"/>
            <a:ext cx="2667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300" b="1">
                <a:solidFill>
                  <a:srgbClr val="2B6FA6"/>
                </a:solidFill>
              </a:defRPr>
            </a:pPr>
            <a:r>
              <a:rPr sz="3300" b="1">
                <a:solidFill>
                  <a:srgbClr val="2B6FA6"/>
                </a:solidFill>
              </a:rPr>
              <a:t>0–4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FCA7B37-7633-49DF-99BE-6C1E31A9408A}"/>
              </a:ext>
            </a:extLst>
          </p:cNvPr>
          <p:cNvSpPr>
            <a:spLocks noGrp="1"/>
          </p:cNvSpPr>
          <p:nvPr/>
        </p:nvSpPr>
        <p:spPr>
          <a:xfrm>
            <a:off x="7239000" y="2190750"/>
            <a:ext cx="2667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evidence-based maturity scale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5F3733A9-3CF0-4407-B091-567096EFBAFA}"/>
              </a:ext>
            </a:extLst>
          </p:cNvPr>
          <p:cNvSpPr>
            <a:spLocks noGrp="1"/>
          </p:cNvSpPr>
          <p:nvPr/>
        </p:nvSpPr>
        <p:spPr>
          <a:xfrm>
            <a:off x="685800" y="3048000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7E7496-C25D-4306-8F1E-169F7036FFB4}"/>
              </a:ext>
            </a:extLst>
          </p:cNvPr>
          <p:cNvSpPr>
            <a:spLocks noGrp="1"/>
          </p:cNvSpPr>
          <p:nvPr/>
        </p:nvSpPr>
        <p:spPr>
          <a:xfrm>
            <a:off x="685800" y="333375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038"/>
                </a:solidFill>
              </a:defRPr>
            </a:pPr>
            <a:r>
              <a:rPr sz="1725" b="1">
                <a:solidFill>
                  <a:srgbClr val="0B2038"/>
                </a:solidFill>
              </a:rPr>
              <a:t>Coverage spans the control environment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22AFEA-45F0-4AB8-9E8E-F8F6721EF652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35D5B"/>
                </a:solidFill>
              </a:defRPr>
            </a:pPr>
            <a:r>
              <a:rPr sz="1350" b="1">
                <a:solidFill>
                  <a:srgbClr val="E35D5B"/>
                </a:solidFill>
              </a:rPr>
              <a:t>—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C6E584-1483-4D86-88E3-6DA4CC35155C}"/>
              </a:ext>
            </a:extLst>
          </p:cNvPr>
          <p:cNvSpPr>
            <a:spLocks noGrp="1"/>
          </p:cNvSpPr>
          <p:nvPr/>
        </p:nvSpPr>
        <p:spPr>
          <a:xfrm>
            <a:off x="952500" y="3905250"/>
            <a:ext cx="4524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Governance &amp; enterprise risk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D92E1DD-B01A-4245-A9C1-B21925AAF9FE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35D5B"/>
                </a:solidFill>
              </a:defRPr>
            </a:pPr>
            <a:r>
              <a:rPr sz="1350" b="1">
                <a:solidFill>
                  <a:srgbClr val="E35D5B"/>
                </a:solidFill>
              </a:rPr>
              <a:t>—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F3B35BF-2A33-487C-AD39-E8543A9C6033}"/>
              </a:ext>
            </a:extLst>
          </p:cNvPr>
          <p:cNvSpPr>
            <a:spLocks noGrp="1"/>
          </p:cNvSpPr>
          <p:nvPr/>
        </p:nvSpPr>
        <p:spPr>
          <a:xfrm>
            <a:off x="952500" y="4362450"/>
            <a:ext cx="4524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Third-party &amp; supply chain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382CC67-3B10-4EAA-85EE-824113D85A63}"/>
              </a:ext>
            </a:extLst>
          </p:cNvPr>
          <p:cNvSpPr>
            <a:spLocks noGrp="1"/>
          </p:cNvSpPr>
          <p:nvPr/>
        </p:nvSpPr>
        <p:spPr>
          <a:xfrm>
            <a:off x="685800" y="481965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35D5B"/>
                </a:solidFill>
              </a:defRPr>
            </a:pPr>
            <a:r>
              <a:rPr sz="1350" b="1">
                <a:solidFill>
                  <a:srgbClr val="E35D5B"/>
                </a:solidFill>
              </a:rPr>
              <a:t>—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F85DFBD-B4E1-4581-989B-8588F8AEA8A8}"/>
              </a:ext>
            </a:extLst>
          </p:cNvPr>
          <p:cNvSpPr>
            <a:spLocks noGrp="1"/>
          </p:cNvSpPr>
          <p:nvPr/>
        </p:nvSpPr>
        <p:spPr>
          <a:xfrm>
            <a:off x="952500" y="4819650"/>
            <a:ext cx="4524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Zero Trust, cloud, IAM/PAM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30E5F53-91A9-42D8-97C0-4E2CBA3B1945}"/>
              </a:ext>
            </a:extLst>
          </p:cNvPr>
          <p:cNvSpPr>
            <a:spLocks noGrp="1"/>
          </p:cNvSpPr>
          <p:nvPr/>
        </p:nvSpPr>
        <p:spPr>
          <a:xfrm>
            <a:off x="685800" y="527685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35D5B"/>
                </a:solidFill>
              </a:defRPr>
            </a:pPr>
            <a:r>
              <a:rPr sz="1350" b="1">
                <a:solidFill>
                  <a:srgbClr val="E35D5B"/>
                </a:solidFill>
              </a:rPr>
              <a:t>—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38133C-5604-457C-B08C-721B4B7C5713}"/>
              </a:ext>
            </a:extLst>
          </p:cNvPr>
          <p:cNvSpPr>
            <a:spLocks noGrp="1"/>
          </p:cNvSpPr>
          <p:nvPr/>
        </p:nvSpPr>
        <p:spPr>
          <a:xfrm>
            <a:off x="952500" y="5276850"/>
            <a:ext cx="4524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SOC, incidents &amp; ransomware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5E70B1-5423-4295-AD32-8574E865EED2}"/>
              </a:ext>
            </a:extLst>
          </p:cNvPr>
          <p:cNvSpPr>
            <a:spLocks noGrp="1"/>
          </p:cNvSpPr>
          <p:nvPr/>
        </p:nvSpPr>
        <p:spPr>
          <a:xfrm>
            <a:off x="6238875" y="390525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8A89"/>
                </a:solidFill>
              </a:defRPr>
            </a:pPr>
            <a:r>
              <a:rPr sz="1350" b="1">
                <a:solidFill>
                  <a:srgbClr val="0B8A89"/>
                </a:solidFill>
              </a:rPr>
              <a:t>—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F6E82A-A952-4239-BB4A-AE5899052945}"/>
              </a:ext>
            </a:extLst>
          </p:cNvPr>
          <p:cNvSpPr>
            <a:spLocks noGrp="1"/>
          </p:cNvSpPr>
          <p:nvPr/>
        </p:nvSpPr>
        <p:spPr>
          <a:xfrm>
            <a:off x="6505575" y="3905250"/>
            <a:ext cx="4524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Vulnerability, AppSec &amp; DevSecOps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7258F66-BFC4-4E32-83BE-CDE9A9694847}"/>
              </a:ext>
            </a:extLst>
          </p:cNvPr>
          <p:cNvSpPr>
            <a:spLocks noGrp="1"/>
          </p:cNvSpPr>
          <p:nvPr/>
        </p:nvSpPr>
        <p:spPr>
          <a:xfrm>
            <a:off x="6238875" y="436245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8A89"/>
                </a:solidFill>
              </a:defRPr>
            </a:pPr>
            <a:r>
              <a:rPr sz="1350" b="1">
                <a:solidFill>
                  <a:srgbClr val="0B8A89"/>
                </a:solidFill>
              </a:rPr>
              <a:t>—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0A92E37-D8E1-443A-A357-99F4C20C5847}"/>
              </a:ext>
            </a:extLst>
          </p:cNvPr>
          <p:cNvSpPr>
            <a:spLocks noGrp="1"/>
          </p:cNvSpPr>
          <p:nvPr/>
        </p:nvSpPr>
        <p:spPr>
          <a:xfrm>
            <a:off x="6505575" y="4362450"/>
            <a:ext cx="4524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API, Kubernetes, OT/ICS &amp; IoT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772B68F-8295-4B1F-AE84-2AFB35FBD216}"/>
              </a:ext>
            </a:extLst>
          </p:cNvPr>
          <p:cNvSpPr>
            <a:spLocks noGrp="1"/>
          </p:cNvSpPr>
          <p:nvPr/>
        </p:nvSpPr>
        <p:spPr>
          <a:xfrm>
            <a:off x="6238875" y="481965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8A89"/>
                </a:solidFill>
              </a:defRPr>
            </a:pPr>
            <a:r>
              <a:rPr sz="1350" b="1">
                <a:solidFill>
                  <a:srgbClr val="0B8A89"/>
                </a:solidFill>
              </a:rPr>
              <a:t>—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11F3FCE-A49A-4E73-BC51-A7DE4956B612}"/>
              </a:ext>
            </a:extLst>
          </p:cNvPr>
          <p:cNvSpPr>
            <a:spLocks noGrp="1"/>
          </p:cNvSpPr>
          <p:nvPr/>
        </p:nvSpPr>
        <p:spPr>
          <a:xfrm>
            <a:off x="6505575" y="4819650"/>
            <a:ext cx="4524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Major compliance-readiness scenarios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B56CECB-C0E1-4EB5-91C3-BB9AAE5C1AE2}"/>
              </a:ext>
            </a:extLst>
          </p:cNvPr>
          <p:cNvSpPr>
            <a:spLocks noGrp="1"/>
          </p:cNvSpPr>
          <p:nvPr/>
        </p:nvSpPr>
        <p:spPr>
          <a:xfrm>
            <a:off x="6238875" y="527685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8A89"/>
                </a:solidFill>
              </a:defRPr>
            </a:pPr>
            <a:r>
              <a:rPr sz="1350" b="1">
                <a:solidFill>
                  <a:srgbClr val="0B8A89"/>
                </a:solidFill>
              </a:rPr>
              <a:t>—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B70FE3-9A26-4F02-B4A4-78FA66A49775}"/>
              </a:ext>
            </a:extLst>
          </p:cNvPr>
          <p:cNvSpPr>
            <a:spLocks noGrp="1"/>
          </p:cNvSpPr>
          <p:nvPr/>
        </p:nvSpPr>
        <p:spPr>
          <a:xfrm>
            <a:off x="6505575" y="5276850"/>
            <a:ext cx="45243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AI, GenAI, RAG, MCP &amp; agents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E8B64BB-2BA6-42AA-AA76-CF7F08E263AF}"/>
              </a:ext>
            </a:extLst>
          </p:cNvPr>
          <p:cNvSpPr>
            <a:spLocks noGrp="1"/>
          </p:cNvSpPr>
          <p:nvPr/>
        </p:nvSpPr>
        <p:spPr>
          <a:xfrm>
            <a:off x="685800" y="5905500"/>
            <a:ext cx="10477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35D5B"/>
                </a:solidFill>
              </a:defRPr>
            </a:pPr>
            <a:r>
              <a:rPr sz="1350" b="1">
                <a:solidFill>
                  <a:srgbClr val="E35D5B"/>
                </a:solidFill>
              </a:rPr>
              <a:t>Scores 0–2 create findings; N/A requires rationale; reassessment verifies closure.</a:t>
            </a:r>
          </a:p>
        </p:txBody>
      </p:sp>
    </p:spTree>
    <p:extLst>
      <p:ext uri="{BB962C8B-B14F-4D97-AF65-F5344CB8AC3E}">
        <p14:creationId xmlns:p14="http://schemas.microsoft.com/office/powerpoint/2010/main" val="625509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>
            <a:extLst>
              <a:ext uri="{FF2B5EF4-FFF2-40B4-BE49-F238E27FC236}">
                <a16:creationId xmlns:a16="http://schemas.microsoft.com/office/drawing/2014/main" id="{68134716-9BAE-46B8-9579-DF76F5D52BF3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35D5B"/>
                </a:solidFill>
              </a:defRPr>
            </a:pPr>
            <a:r>
              <a:rPr sz="900" b="1">
                <a:solidFill>
                  <a:srgbClr val="E35D5B"/>
                </a:solidFill>
              </a:rPr>
              <a:t>OPERATING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E126D3-0EFD-4A7D-8A58-73A008BD98F8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A disciplined workflow turns evidence into accountable remediation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C12B74F-4294-4E2A-95DC-683AE0C49C62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EFF488-AAB5-4959-8A80-6F71DC1017B0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VirtuCISO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E6199AE-4035-4EF6-B68A-E8D4E7414780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05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3AD3DAC-6F83-4C34-B280-14B047EB4F78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0B8A8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83EE25-4D1F-4B8D-9AEF-669888D0BA45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9012A6-7523-4332-9B54-E15D65F68478}"/>
              </a:ext>
            </a:extLst>
          </p:cNvPr>
          <p:cNvSpPr>
            <a:spLocks noGrp="1"/>
          </p:cNvSpPr>
          <p:nvPr/>
        </p:nvSpPr>
        <p:spPr>
          <a:xfrm>
            <a:off x="685800" y="224790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2038"/>
                </a:solidFill>
              </a:defRPr>
            </a:pPr>
            <a:r>
              <a:rPr sz="1500" b="1">
                <a:solidFill>
                  <a:srgbClr val="0B2038"/>
                </a:solidFill>
              </a:rPr>
              <a:t>Scope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32D340-A4B5-4627-8552-C2859D51C8D0}"/>
              </a:ext>
            </a:extLst>
          </p:cNvPr>
          <p:cNvSpPr>
            <a:spLocks noGrp="1"/>
          </p:cNvSpPr>
          <p:nvPr/>
        </p:nvSpPr>
        <p:spPr>
          <a:xfrm>
            <a:off x="685800" y="2752725"/>
            <a:ext cx="1809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F7180"/>
                </a:solidFill>
              </a:defRPr>
            </a:pPr>
            <a:r>
              <a:rPr sz="1200" b="0">
                <a:solidFill>
                  <a:srgbClr val="5F7180"/>
                </a:solidFill>
              </a:rPr>
              <a:t>Choose assessment, target, owner and due date.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DA00D19-2336-4C84-BDD1-092CCA900FFE}"/>
              </a:ext>
            </a:extLst>
          </p:cNvPr>
          <p:cNvSpPr>
            <a:spLocks noGrp="1"/>
          </p:cNvSpPr>
          <p:nvPr/>
        </p:nvSpPr>
        <p:spPr>
          <a:xfrm>
            <a:off x="2895600" y="176212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0B8A8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4D941A-7043-4F20-A48D-38F5E6884D0C}"/>
              </a:ext>
            </a:extLst>
          </p:cNvPr>
          <p:cNvSpPr>
            <a:spLocks noGrp="1"/>
          </p:cNvSpPr>
          <p:nvPr/>
        </p:nvSpPr>
        <p:spPr>
          <a:xfrm>
            <a:off x="2895600" y="18097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923852-1FD6-4364-BEF6-C9CD7F927D10}"/>
              </a:ext>
            </a:extLst>
          </p:cNvPr>
          <p:cNvSpPr>
            <a:spLocks noGrp="1"/>
          </p:cNvSpPr>
          <p:nvPr/>
        </p:nvSpPr>
        <p:spPr>
          <a:xfrm>
            <a:off x="2895600" y="224790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2038"/>
                </a:solidFill>
              </a:defRPr>
            </a:pPr>
            <a:r>
              <a:rPr sz="1500" b="1">
                <a:solidFill>
                  <a:srgbClr val="0B2038"/>
                </a:solidFill>
              </a:rPr>
              <a:t>Gather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B9310A-B226-4789-9E00-3733E9CC009B}"/>
              </a:ext>
            </a:extLst>
          </p:cNvPr>
          <p:cNvSpPr>
            <a:spLocks noGrp="1"/>
          </p:cNvSpPr>
          <p:nvPr/>
        </p:nvSpPr>
        <p:spPr>
          <a:xfrm>
            <a:off x="2895600" y="2752725"/>
            <a:ext cx="1809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F7180"/>
                </a:solidFill>
              </a:defRPr>
            </a:pPr>
            <a:r>
              <a:rPr sz="1200" b="0">
                <a:solidFill>
                  <a:srgbClr val="5F7180"/>
                </a:solidFill>
              </a:rPr>
              <a:t>Request evidence and connect approved sources.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4AD0614A-22AF-48C1-A0C0-5D36880EE4B0}"/>
              </a:ext>
            </a:extLst>
          </p:cNvPr>
          <p:cNvSpPr>
            <a:spLocks noGrp="1"/>
          </p:cNvSpPr>
          <p:nvPr/>
        </p:nvSpPr>
        <p:spPr>
          <a:xfrm>
            <a:off x="5105400" y="176212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0B8A8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6D3B61D-A9ED-4E70-AA4A-5DBC8389068C}"/>
              </a:ext>
            </a:extLst>
          </p:cNvPr>
          <p:cNvSpPr>
            <a:spLocks noGrp="1"/>
          </p:cNvSpPr>
          <p:nvPr/>
        </p:nvSpPr>
        <p:spPr>
          <a:xfrm>
            <a:off x="5105400" y="18097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5EEC44-3905-410C-9703-3BC2E0B06959}"/>
              </a:ext>
            </a:extLst>
          </p:cNvPr>
          <p:cNvSpPr>
            <a:spLocks noGrp="1"/>
          </p:cNvSpPr>
          <p:nvPr/>
        </p:nvSpPr>
        <p:spPr>
          <a:xfrm>
            <a:off x="5105400" y="224790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2038"/>
                </a:solidFill>
              </a:defRPr>
            </a:pPr>
            <a:r>
              <a:rPr sz="1500" b="1">
                <a:solidFill>
                  <a:srgbClr val="0B2038"/>
                </a:solidFill>
              </a:rPr>
              <a:t>Evaluate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4D750EC-3367-4990-A786-77267738BEC0}"/>
              </a:ext>
            </a:extLst>
          </p:cNvPr>
          <p:cNvSpPr>
            <a:spLocks noGrp="1"/>
          </p:cNvSpPr>
          <p:nvPr/>
        </p:nvSpPr>
        <p:spPr>
          <a:xfrm>
            <a:off x="5105400" y="2752725"/>
            <a:ext cx="1809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F7180"/>
                </a:solidFill>
              </a:defRPr>
            </a:pPr>
            <a:r>
              <a:rPr sz="1200" b="0">
                <a:solidFill>
                  <a:srgbClr val="5F7180"/>
                </a:solidFill>
              </a:rPr>
              <a:t>Score outcomes; capture evidence references and judgment.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85034D9-FD4C-441C-A663-47D32D4F3241}"/>
              </a:ext>
            </a:extLst>
          </p:cNvPr>
          <p:cNvSpPr>
            <a:spLocks noGrp="1"/>
          </p:cNvSpPr>
          <p:nvPr/>
        </p:nvSpPr>
        <p:spPr>
          <a:xfrm>
            <a:off x="7315200" y="176212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E35D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C90433-A425-4AAE-889A-8CF7EAAFC1DB}"/>
              </a:ext>
            </a:extLst>
          </p:cNvPr>
          <p:cNvSpPr>
            <a:spLocks noGrp="1"/>
          </p:cNvSpPr>
          <p:nvPr/>
        </p:nvSpPr>
        <p:spPr>
          <a:xfrm>
            <a:off x="7315200" y="18097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DCE6C7C-0C1E-49F1-BF83-D2F0DAB371B3}"/>
              </a:ext>
            </a:extLst>
          </p:cNvPr>
          <p:cNvSpPr>
            <a:spLocks noGrp="1"/>
          </p:cNvSpPr>
          <p:nvPr/>
        </p:nvSpPr>
        <p:spPr>
          <a:xfrm>
            <a:off x="7315200" y="224790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2038"/>
                </a:solidFill>
              </a:defRPr>
            </a:pPr>
            <a:r>
              <a:rPr sz="1500" b="1">
                <a:solidFill>
                  <a:srgbClr val="0B2038"/>
                </a:solidFill>
              </a:rPr>
              <a:t>Act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64B293F-891F-4E21-994A-698DFA95E98A}"/>
              </a:ext>
            </a:extLst>
          </p:cNvPr>
          <p:cNvSpPr>
            <a:spLocks noGrp="1"/>
          </p:cNvSpPr>
          <p:nvPr/>
        </p:nvSpPr>
        <p:spPr>
          <a:xfrm>
            <a:off x="7315200" y="2752725"/>
            <a:ext cx="1809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F7180"/>
                </a:solidFill>
              </a:defRPr>
            </a:pPr>
            <a:r>
              <a:rPr sz="1200" b="0">
                <a:solidFill>
                  <a:srgbClr val="5F7180"/>
                </a:solidFill>
              </a:rPr>
              <a:t>Create findings, owners and remediation commitments.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F1F87051-B894-445F-ABA7-FFFF1389CBBA}"/>
              </a:ext>
            </a:extLst>
          </p:cNvPr>
          <p:cNvSpPr>
            <a:spLocks noGrp="1"/>
          </p:cNvSpPr>
          <p:nvPr/>
        </p:nvSpPr>
        <p:spPr>
          <a:xfrm>
            <a:off x="9525000" y="1762125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0B8A8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8E88E3F-CBAA-4F93-AC4B-A24F843A7E6E}"/>
              </a:ext>
            </a:extLst>
          </p:cNvPr>
          <p:cNvSpPr>
            <a:spLocks noGrp="1"/>
          </p:cNvSpPr>
          <p:nvPr/>
        </p:nvSpPr>
        <p:spPr>
          <a:xfrm>
            <a:off x="9525000" y="1809750"/>
            <a:ext cx="3619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A31560-3524-4E9F-8D95-533BB6FCB2E3}"/>
              </a:ext>
            </a:extLst>
          </p:cNvPr>
          <p:cNvSpPr>
            <a:spLocks noGrp="1"/>
          </p:cNvSpPr>
          <p:nvPr/>
        </p:nvSpPr>
        <p:spPr>
          <a:xfrm>
            <a:off x="9525000" y="2247900"/>
            <a:ext cx="180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2038"/>
                </a:solidFill>
              </a:defRPr>
            </a:pPr>
            <a:r>
              <a:rPr sz="1500" b="1">
                <a:solidFill>
                  <a:srgbClr val="0B2038"/>
                </a:solidFill>
              </a:rPr>
              <a:t>Verify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540958-C7F8-4B59-989D-7C61439D37E7}"/>
              </a:ext>
            </a:extLst>
          </p:cNvPr>
          <p:cNvSpPr>
            <a:spLocks noGrp="1"/>
          </p:cNvSpPr>
          <p:nvPr/>
        </p:nvSpPr>
        <p:spPr>
          <a:xfrm>
            <a:off x="9525000" y="2752725"/>
            <a:ext cx="180975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5F7180"/>
                </a:solidFill>
              </a:defRPr>
            </a:pPr>
            <a:r>
              <a:rPr sz="1200" b="0">
                <a:solidFill>
                  <a:srgbClr val="5F7180"/>
                </a:solidFill>
              </a:rPr>
              <a:t>Reassess closure and refresh executive posture.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D56AA063-C173-4A96-98FB-E0CED06ED06F}"/>
              </a:ext>
            </a:extLst>
          </p:cNvPr>
          <p:cNvSpPr>
            <a:spLocks noGrp="1"/>
          </p:cNvSpPr>
          <p:nvPr/>
        </p:nvSpPr>
        <p:spPr>
          <a:xfrm>
            <a:off x="685800" y="4572000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286F4A-989D-4E03-80FB-D5AA3EF3538D}"/>
              </a:ext>
            </a:extLst>
          </p:cNvPr>
          <p:cNvSpPr>
            <a:spLocks noGrp="1"/>
          </p:cNvSpPr>
          <p:nvPr/>
        </p:nvSpPr>
        <p:spPr>
          <a:xfrm>
            <a:off x="685800" y="4905375"/>
            <a:ext cx="2286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2038"/>
                </a:solidFill>
              </a:defRPr>
            </a:pPr>
            <a:r>
              <a:rPr sz="1650" b="1">
                <a:solidFill>
                  <a:srgbClr val="0B2038"/>
                </a:solidFill>
              </a:rPr>
              <a:t>Accountability model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CE2C02F-D0B7-4968-AFEB-7F0AFFB69524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3048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82838"/>
                </a:solidFill>
              </a:defRPr>
            </a:pPr>
            <a:r>
              <a:rPr sz="1275" b="1">
                <a:solidFill>
                  <a:srgbClr val="182838"/>
                </a:solidFill>
              </a:rPr>
              <a:t>Human assessor owns scope and evidence sufficiency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B478229-8692-40F5-A32F-148A6E7B8EE7}"/>
              </a:ext>
            </a:extLst>
          </p:cNvPr>
          <p:cNvSpPr>
            <a:spLocks noGrp="1"/>
          </p:cNvSpPr>
          <p:nvPr/>
        </p:nvSpPr>
        <p:spPr>
          <a:xfrm>
            <a:off x="4400550" y="5381625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82838"/>
                </a:solidFill>
              </a:defRPr>
            </a:pPr>
            <a:r>
              <a:rPr sz="1275" b="1">
                <a:solidFill>
                  <a:srgbClr val="182838"/>
                </a:solidFill>
              </a:rPr>
              <a:t>Control owner owns remediation and operating evidence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C91CEBA-9E3B-4C21-9D5B-89BA1BB61FB1}"/>
              </a:ext>
            </a:extLst>
          </p:cNvPr>
          <p:cNvSpPr>
            <a:spLocks noGrp="1"/>
          </p:cNvSpPr>
          <p:nvPr/>
        </p:nvSpPr>
        <p:spPr>
          <a:xfrm>
            <a:off x="8210550" y="5381625"/>
            <a:ext cx="3143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82838"/>
                </a:solidFill>
              </a:defRPr>
            </a:pPr>
            <a:r>
              <a:rPr sz="1275" b="1">
                <a:solidFill>
                  <a:srgbClr val="182838"/>
                </a:solidFill>
              </a:rPr>
              <a:t>Security leadership owns risk acceptance and executive narrative</a:t>
            </a:r>
          </a:p>
        </p:txBody>
      </p:sp>
    </p:spTree>
    <p:extLst>
      <p:ext uri="{BB962C8B-B14F-4D97-AF65-F5344CB8AC3E}">
        <p14:creationId xmlns:p14="http://schemas.microsoft.com/office/powerpoint/2010/main" val="1821871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1933D4AE-DA77-4388-9C37-DF30CE588663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35D5B"/>
                </a:solidFill>
              </a:defRPr>
            </a:pPr>
            <a:r>
              <a:rPr sz="900" b="1">
                <a:solidFill>
                  <a:srgbClr val="E35D5B"/>
                </a:solidFill>
              </a:rPr>
              <a:t>SOLUTION ARCHITECTURE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D05576-D416-4AE4-8809-9BA9A9C7DB64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Local-first architecture keeps evidence and judgment under human control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9A02C520-E4FE-4D32-A56E-284227BC57DF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13947C-EC71-4079-A8A9-BA6511408B70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VirtuCISO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639667-FE33-43CA-B39C-2127CB4DEB1B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06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DC433B0-ABBD-4C03-B03C-FC899920A47E}"/>
              </a:ext>
            </a:extLst>
          </p:cNvPr>
          <p:cNvSpPr>
            <a:spLocks noGrp="1"/>
          </p:cNvSpPr>
          <p:nvPr/>
        </p:nvSpPr>
        <p:spPr>
          <a:xfrm>
            <a:off x="619125" y="2428875"/>
            <a:ext cx="1809750" cy="1190625"/>
          </a:xfrm>
          <a:prstGeom prst="roundRect">
            <a:avLst>
              <a:gd name="adj" fmla="val 8000"/>
            </a:avLst>
          </a:prstGeom>
          <a:solidFill>
            <a:srgbClr val="E8F0F7"/>
          </a:solidFill>
          <a:ln w="9525">
            <a:solidFill>
              <a:srgbClr val="2B6F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5CBD18-2AE9-4694-9FC7-F7893F97E133}"/>
              </a:ext>
            </a:extLst>
          </p:cNvPr>
          <p:cNvSpPr>
            <a:spLocks noGrp="1"/>
          </p:cNvSpPr>
          <p:nvPr/>
        </p:nvSpPr>
        <p:spPr>
          <a:xfrm>
            <a:off x="752475" y="2562225"/>
            <a:ext cx="1543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2038"/>
                </a:solidFill>
              </a:defRPr>
            </a:pPr>
            <a:r>
              <a:rPr sz="1350" b="1">
                <a:solidFill>
                  <a:srgbClr val="0B2038"/>
                </a:solidFill>
              </a:rPr>
              <a:t>Users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0C446FD-15A4-44C2-B5D7-D5E3A2076B14}"/>
              </a:ext>
            </a:extLst>
          </p:cNvPr>
          <p:cNvSpPr>
            <a:spLocks noGrp="1"/>
          </p:cNvSpPr>
          <p:nvPr/>
        </p:nvSpPr>
        <p:spPr>
          <a:xfrm>
            <a:off x="733425" y="3000375"/>
            <a:ext cx="15811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CISO • assessors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control owners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E60CA3C7-8802-4829-8BA1-732675B945C2}"/>
              </a:ext>
            </a:extLst>
          </p:cNvPr>
          <p:cNvSpPr>
            <a:spLocks noGrp="1"/>
          </p:cNvSpPr>
          <p:nvPr/>
        </p:nvSpPr>
        <p:spPr>
          <a:xfrm>
            <a:off x="2762250" y="2095500"/>
            <a:ext cx="2095500" cy="1857375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35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7B4C99E-196C-4DB7-853B-FD04B270A5A5}"/>
              </a:ext>
            </a:extLst>
          </p:cNvPr>
          <p:cNvSpPr>
            <a:spLocks noGrp="1"/>
          </p:cNvSpPr>
          <p:nvPr/>
        </p:nvSpPr>
        <p:spPr>
          <a:xfrm>
            <a:off x="2895600" y="2228850"/>
            <a:ext cx="1828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2038"/>
                </a:solidFill>
              </a:defRPr>
            </a:pPr>
            <a:r>
              <a:rPr sz="1350" b="1">
                <a:solidFill>
                  <a:srgbClr val="0B2038"/>
                </a:solidFill>
              </a:rPr>
              <a:t>Local application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B4FEA4-6F2A-435C-8972-EFBE8E5C24AA}"/>
              </a:ext>
            </a:extLst>
          </p:cNvPr>
          <p:cNvSpPr>
            <a:spLocks noGrp="1"/>
          </p:cNvSpPr>
          <p:nvPr/>
        </p:nvSpPr>
        <p:spPr>
          <a:xfrm>
            <a:off x="2876550" y="2667000"/>
            <a:ext cx="186690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Browser UI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assessment library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scoring &amp; findings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D806C7F4-AE57-49E8-B309-FB26870195A9}"/>
              </a:ext>
            </a:extLst>
          </p:cNvPr>
          <p:cNvSpPr>
            <a:spLocks noGrp="1"/>
          </p:cNvSpPr>
          <p:nvPr/>
        </p:nvSpPr>
        <p:spPr>
          <a:xfrm>
            <a:off x="5238750" y="1762125"/>
            <a:ext cx="2095500" cy="2524125"/>
          </a:xfrm>
          <a:prstGeom prst="roundRect">
            <a:avLst>
              <a:gd name="adj" fmla="val 4545"/>
            </a:avLst>
          </a:prstGeom>
          <a:solidFill>
            <a:srgbClr val="E4F3F2"/>
          </a:solidFill>
          <a:ln w="9525">
            <a:solidFill>
              <a:srgbClr val="0B8A8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628D82-F2AD-45A1-9669-DA98F65A68E5}"/>
              </a:ext>
            </a:extLst>
          </p:cNvPr>
          <p:cNvSpPr>
            <a:spLocks noGrp="1"/>
          </p:cNvSpPr>
          <p:nvPr/>
        </p:nvSpPr>
        <p:spPr>
          <a:xfrm>
            <a:off x="5372100" y="1895475"/>
            <a:ext cx="18288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2038"/>
                </a:solidFill>
              </a:defRPr>
            </a:pPr>
            <a:r>
              <a:rPr sz="1350" b="1">
                <a:solidFill>
                  <a:srgbClr val="0B2038"/>
                </a:solidFill>
              </a:rPr>
              <a:t>Evidence services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F36C6D-F0B2-4E58-A5EC-73CE46317EB0}"/>
              </a:ext>
            </a:extLst>
          </p:cNvPr>
          <p:cNvSpPr>
            <a:spLocks noGrp="1"/>
          </p:cNvSpPr>
          <p:nvPr/>
        </p:nvSpPr>
        <p:spPr>
          <a:xfrm>
            <a:off x="5353050" y="2333625"/>
            <a:ext cx="1866900" cy="1857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File / folder / repo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CSV / JSON / SQLite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approved REST gateway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BE11CB6-BB76-46EC-B112-97A514F780C7}"/>
              </a:ext>
            </a:extLst>
          </p:cNvPr>
          <p:cNvSpPr>
            <a:spLocks noGrp="1"/>
          </p:cNvSpPr>
          <p:nvPr/>
        </p:nvSpPr>
        <p:spPr>
          <a:xfrm>
            <a:off x="7715250" y="2095500"/>
            <a:ext cx="1809750" cy="1857375"/>
          </a:xfrm>
          <a:prstGeom prst="roundRect">
            <a:avLst>
              <a:gd name="adj" fmla="val 5263"/>
            </a:avLst>
          </a:prstGeom>
          <a:solidFill>
            <a:srgbClr val="F5F7F8"/>
          </a:solidFill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12220CE-1037-4D60-B02B-6CDBB46271A1}"/>
              </a:ext>
            </a:extLst>
          </p:cNvPr>
          <p:cNvSpPr>
            <a:spLocks noGrp="1"/>
          </p:cNvSpPr>
          <p:nvPr/>
        </p:nvSpPr>
        <p:spPr>
          <a:xfrm>
            <a:off x="7848600" y="2228850"/>
            <a:ext cx="1543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2038"/>
                </a:solidFill>
              </a:defRPr>
            </a:pPr>
            <a:r>
              <a:rPr sz="1350" b="1">
                <a:solidFill>
                  <a:srgbClr val="0B2038"/>
                </a:solidFill>
              </a:rPr>
              <a:t>Local state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B14464-AFD1-46F8-8394-08F78C6492D2}"/>
              </a:ext>
            </a:extLst>
          </p:cNvPr>
          <p:cNvSpPr>
            <a:spLocks noGrp="1"/>
          </p:cNvSpPr>
          <p:nvPr/>
        </p:nvSpPr>
        <p:spPr>
          <a:xfrm>
            <a:off x="7829550" y="2667000"/>
            <a:ext cx="1581150" cy="1190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Browser records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connector config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audit references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AD641A0-3243-463E-B1B2-5E99A99D2562}"/>
              </a:ext>
            </a:extLst>
          </p:cNvPr>
          <p:cNvSpPr>
            <a:spLocks noGrp="1"/>
          </p:cNvSpPr>
          <p:nvPr/>
        </p:nvSpPr>
        <p:spPr>
          <a:xfrm>
            <a:off x="9906000" y="2428875"/>
            <a:ext cx="1619250" cy="1190625"/>
          </a:xfrm>
          <a:prstGeom prst="roundRect">
            <a:avLst>
              <a:gd name="adj" fmla="val 8000"/>
            </a:avLst>
          </a:prstGeom>
          <a:solidFill>
            <a:srgbClr val="FCE9E8"/>
          </a:solidFill>
          <a:ln w="9525">
            <a:solidFill>
              <a:srgbClr val="E35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D7DC69-65D3-490F-A5C0-494AA0BDB1B6}"/>
              </a:ext>
            </a:extLst>
          </p:cNvPr>
          <p:cNvSpPr>
            <a:spLocks noGrp="1"/>
          </p:cNvSpPr>
          <p:nvPr/>
        </p:nvSpPr>
        <p:spPr>
          <a:xfrm>
            <a:off x="10039350" y="2562225"/>
            <a:ext cx="13525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2038"/>
                </a:solidFill>
              </a:defRPr>
            </a:pPr>
            <a:r>
              <a:rPr sz="1350" b="1">
                <a:solidFill>
                  <a:srgbClr val="0B2038"/>
                </a:solidFill>
              </a:rPr>
              <a:t>Optional AI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2FE3C4-9777-4657-9F4A-762AA77B1C15}"/>
              </a:ext>
            </a:extLst>
          </p:cNvPr>
          <p:cNvSpPr>
            <a:spLocks noGrp="1"/>
          </p:cNvSpPr>
          <p:nvPr/>
        </p:nvSpPr>
        <p:spPr>
          <a:xfrm>
            <a:off x="10020300" y="3000375"/>
            <a:ext cx="13906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Local proxy to Claude</a:t>
            </a:r>
          </a:p>
          <a:p>
            <a:pPr algn="ctr">
              <a:defRPr sz="1050" b="0">
                <a:solidFill>
                  <a:srgbClr val="5F7180"/>
                </a:solidFill>
              </a:defRPr>
            </a:pPr>
            <a:r>
              <a:rPr sz="1050" b="0">
                <a:solidFill>
                  <a:srgbClr val="5F7180"/>
                </a:solidFill>
              </a:rPr>
              <a:t>only when invoked</a:t>
            </a:r>
          </a:p>
        </p:txBody>
      </p:sp>
      <p:cxnSp>
        <p:nvCxnSpPr>
          <p:cNvPr id="48" name="Straight Arrow Connector 47"/>
          <p:cNvCxnSpPr>
            <a:stCxn id="6" idx="3"/>
            <a:endCxn id="9" idx="1"/>
          </p:cNvCxnSpPr>
          <p:nvPr/>
        </p:nvCxnSpPr>
        <p:spPr>
          <a:xfrm>
            <a:off x="2428875" y="3024188"/>
            <a:ext cx="333375" cy="0"/>
          </a:xfrm>
          <a:prstGeom prst="straightConnector1">
            <a:avLst/>
          </a:prstGeom>
          <a:ln w="19050">
            <a:solidFill>
              <a:srgbClr val="2B6FA6"/>
            </a:solidFill>
            <a:prstDash val="solid"/>
            <a:headEnd type="triangle" w="sm" len="sm"/>
          </a:ln>
        </p:spPr>
      </p:cxnSp>
      <p:cxnSp>
        <p:nvCxnSpPr>
          <p:cNvPr id="49" name="Straight Arrow Connector 48"/>
          <p:cNvCxnSpPr>
            <a:stCxn id="9" idx="3"/>
            <a:endCxn id="12" idx="1"/>
          </p:cNvCxnSpPr>
          <p:nvPr/>
        </p:nvCxnSpPr>
        <p:spPr>
          <a:xfrm>
            <a:off x="4857750" y="3024188"/>
            <a:ext cx="381000" cy="0"/>
          </a:xfrm>
          <a:prstGeom prst="straightConnector1">
            <a:avLst/>
          </a:prstGeom>
          <a:ln w="19050">
            <a:solidFill>
              <a:srgbClr val="0B8A89"/>
            </a:solidFill>
            <a:prstDash val="solid"/>
            <a:headEnd type="triangle" w="sm" len="sm"/>
          </a:ln>
        </p:spPr>
      </p:cxnSp>
      <p:cxnSp>
        <p:nvCxnSpPr>
          <p:cNvPr id="50" name="Straight Arrow Connector 49"/>
          <p:cNvCxnSpPr>
            <a:stCxn id="12" idx="3"/>
            <a:endCxn id="15" idx="1"/>
          </p:cNvCxnSpPr>
          <p:nvPr/>
        </p:nvCxnSpPr>
        <p:spPr>
          <a:xfrm>
            <a:off x="7334250" y="3024188"/>
            <a:ext cx="381000" cy="0"/>
          </a:xfrm>
          <a:prstGeom prst="straightConnector1">
            <a:avLst/>
          </a:prstGeom>
          <a:ln w="19050">
            <a:solidFill>
              <a:srgbClr val="0B8A89"/>
            </a:solidFill>
            <a:prstDash val="solid"/>
            <a:headEnd type="triangle" w="sm" len="sm"/>
          </a:ln>
        </p:spPr>
      </p:cxnSp>
      <p:cxnSp>
        <p:nvCxnSpPr>
          <p:cNvPr id="51" name="Straight Arrow Connector 50"/>
          <p:cNvCxnSpPr>
            <a:stCxn id="15" idx="3"/>
            <a:endCxn id="18" idx="1"/>
          </p:cNvCxnSpPr>
          <p:nvPr/>
        </p:nvCxnSpPr>
        <p:spPr>
          <a:xfrm>
            <a:off x="9525000" y="3024188"/>
            <a:ext cx="381000" cy="0"/>
          </a:xfrm>
          <a:prstGeom prst="straightConnector1">
            <a:avLst/>
          </a:prstGeom>
          <a:ln w="19050">
            <a:solidFill>
              <a:srgbClr val="E35D5B"/>
            </a:solidFill>
            <a:prstDash val="solid"/>
            <a:headEnd type="triangle" w="sm" len="sm"/>
          </a:ln>
        </p:spPr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42A49296-A287-47CB-BD79-19088F7F3FC7}"/>
              </a:ext>
            </a:extLst>
          </p:cNvPr>
          <p:cNvSpPr>
            <a:spLocks noGrp="1"/>
          </p:cNvSpPr>
          <p:nvPr/>
        </p:nvSpPr>
        <p:spPr>
          <a:xfrm>
            <a:off x="685800" y="4905375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35D5B"/>
                </a:solidFill>
              </a:defRPr>
            </a:pPr>
            <a:r>
              <a:rPr sz="1050" b="1">
                <a:solidFill>
                  <a:srgbClr val="E35D5B"/>
                </a:solidFill>
              </a:rPr>
              <a:t>Trust boundary</a:t>
            </a:r>
          </a:p>
        </p:txBody>
      </p:sp>
      <p:sp>
        <p:nvSpPr>
          <p:cNvPr id="26" name="Straight Connector 25">
            <a:extLst>
              <a:ext uri="{FF2B5EF4-FFF2-40B4-BE49-F238E27FC236}">
                <a16:creationId xmlns:a16="http://schemas.microsoft.com/office/drawing/2014/main" id="{0E03B716-26A8-4960-B787-A659AAC5A6A6}"/>
              </a:ext>
            </a:extLst>
          </p:cNvPr>
          <p:cNvSpPr>
            <a:spLocks noGrp="1"/>
          </p:cNvSpPr>
          <p:nvPr/>
        </p:nvSpPr>
        <p:spPr>
          <a:xfrm>
            <a:off x="2000250" y="5019675"/>
            <a:ext cx="9334500" cy="9525"/>
          </a:xfrm>
          <a:prstGeom prst="line">
            <a:avLst/>
          </a:prstGeom>
          <a:noFill/>
          <a:ln w="19050">
            <a:solidFill>
              <a:srgbClr val="E35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7195402-AF08-4F55-81DF-BE4F948BEC14}"/>
              </a:ext>
            </a:extLst>
          </p:cNvPr>
          <p:cNvSpPr>
            <a:spLocks noGrp="1"/>
          </p:cNvSpPr>
          <p:nvPr/>
        </p:nvSpPr>
        <p:spPr>
          <a:xfrm>
            <a:off x="685800" y="5381625"/>
            <a:ext cx="1047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2038"/>
                </a:solidFill>
              </a:defRPr>
            </a:pPr>
            <a:r>
              <a:rPr sz="1350" b="1">
                <a:solidFill>
                  <a:srgbClr val="0B2038"/>
                </a:solidFill>
              </a:rPr>
              <a:t>No direct write path to enterprise systems; production databases should sit behind an approved, read-only query gateway.</a:t>
            </a:r>
          </a:p>
        </p:txBody>
      </p:sp>
    </p:spTree>
    <p:extLst>
      <p:ext uri="{BB962C8B-B14F-4D97-AF65-F5344CB8AC3E}">
        <p14:creationId xmlns:p14="http://schemas.microsoft.com/office/powerpoint/2010/main" val="526933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D3F8047-92FA-456E-AF97-672ECDC2EFA2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35D5B"/>
                </a:solidFill>
              </a:defRPr>
            </a:pPr>
            <a:r>
              <a:rPr sz="900" b="1">
                <a:solidFill>
                  <a:srgbClr val="E35D5B"/>
                </a:solidFill>
              </a:rPr>
              <a:t>DATA AND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6E6A82B-29F0-45CD-97FF-4558E65D0E5D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Enterprise connectors refresh evidence without exposing broad production access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CB88BCAF-85F3-429D-87B8-1D9FB7255AAA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F06DC0-AF73-473E-AA19-BF1FF28C8925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VirtuCISO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693241-4604-4AD7-BB9B-0BCDB4CF35F0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48001FF-806A-4B92-8F73-9D0D6FE2323A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038"/>
                </a:solidFill>
              </a:defRPr>
            </a:pPr>
            <a:r>
              <a:rPr sz="1725" b="1">
                <a:solidFill>
                  <a:srgbClr val="0B2038"/>
                </a:solidFill>
              </a:rPr>
              <a:t>Approved source patterns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26F8B81-2D43-4197-AC2F-A189E1F2A2F4}"/>
              </a:ext>
            </a:extLst>
          </p:cNvPr>
          <p:cNvSpPr>
            <a:spLocks noGrp="1"/>
          </p:cNvSpPr>
          <p:nvPr/>
        </p:nvSpPr>
        <p:spPr>
          <a:xfrm>
            <a:off x="666750" y="20574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B8A8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EF17AF-7642-4D0E-8729-360CA0B3B5EF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5C25BCF-35B7-4CC2-B0F1-CF4ABAB1DAD3}"/>
              </a:ext>
            </a:extLst>
          </p:cNvPr>
          <p:cNvSpPr>
            <a:spLocks noGrp="1"/>
          </p:cNvSpPr>
          <p:nvPr/>
        </p:nvSpPr>
        <p:spPr>
          <a:xfrm>
            <a:off x="1162050" y="20955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Local files and evidence folders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0E33AA9-34A6-455A-908B-F328905C97DC}"/>
              </a:ext>
            </a:extLst>
          </p:cNvPr>
          <p:cNvSpPr>
            <a:spLocks noGrp="1"/>
          </p:cNvSpPr>
          <p:nvPr/>
        </p:nvSpPr>
        <p:spPr>
          <a:xfrm>
            <a:off x="666750" y="25812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B8A8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307248-DA42-4E00-B5CD-668FD4D6CBD3}"/>
              </a:ext>
            </a:extLst>
          </p:cNvPr>
          <p:cNvSpPr>
            <a:spLocks noGrp="1"/>
          </p:cNvSpPr>
          <p:nvPr/>
        </p:nvSpPr>
        <p:spPr>
          <a:xfrm>
            <a:off x="685800" y="261937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E2E5D4-B41C-47AD-B966-89DA5B8A67AD}"/>
              </a:ext>
            </a:extLst>
          </p:cNvPr>
          <p:cNvSpPr>
            <a:spLocks noGrp="1"/>
          </p:cNvSpPr>
          <p:nvPr/>
        </p:nvSpPr>
        <p:spPr>
          <a:xfrm>
            <a:off x="1162050" y="261937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Source repositories and IaC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A6274C1-220C-4F41-ABF2-B6C1D2C6AFF0}"/>
              </a:ext>
            </a:extLst>
          </p:cNvPr>
          <p:cNvSpPr>
            <a:spLocks noGrp="1"/>
          </p:cNvSpPr>
          <p:nvPr/>
        </p:nvSpPr>
        <p:spPr>
          <a:xfrm>
            <a:off x="666750" y="31051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B8A8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72B9A4-825E-4E41-AD5D-A2E2954DFADA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D7111F5-FE44-40B0-B8A1-F84AB6E80D66}"/>
              </a:ext>
            </a:extLst>
          </p:cNvPr>
          <p:cNvSpPr>
            <a:spLocks noGrp="1"/>
          </p:cNvSpPr>
          <p:nvPr/>
        </p:nvSpPr>
        <p:spPr>
          <a:xfrm>
            <a:off x="1162050" y="314325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Read-only SQLite datasets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A85D4CB4-D77D-4BF6-9438-E3EB2CCD3FD3}"/>
              </a:ext>
            </a:extLst>
          </p:cNvPr>
          <p:cNvSpPr>
            <a:spLocks noGrp="1"/>
          </p:cNvSpPr>
          <p:nvPr/>
        </p:nvSpPr>
        <p:spPr>
          <a:xfrm>
            <a:off x="666750" y="362902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B8A89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2BF32D-F6F0-41D2-B0C9-135AC826B757}"/>
              </a:ext>
            </a:extLst>
          </p:cNvPr>
          <p:cNvSpPr>
            <a:spLocks noGrp="1"/>
          </p:cNvSpPr>
          <p:nvPr/>
        </p:nvSpPr>
        <p:spPr>
          <a:xfrm>
            <a:off x="685800" y="3667125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2ACFF3A-A2E7-4D6F-BC40-060001BD9690}"/>
              </a:ext>
            </a:extLst>
          </p:cNvPr>
          <p:cNvSpPr>
            <a:spLocks noGrp="1"/>
          </p:cNvSpPr>
          <p:nvPr/>
        </p:nvSpPr>
        <p:spPr>
          <a:xfrm>
            <a:off x="1162050" y="3667125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Approved REST / JSON endpoints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DCC9349-1EA9-4BA4-9A64-7E676B2B73A0}"/>
              </a:ext>
            </a:extLst>
          </p:cNvPr>
          <p:cNvSpPr>
            <a:spLocks noGrp="1"/>
          </p:cNvSpPr>
          <p:nvPr/>
        </p:nvSpPr>
        <p:spPr>
          <a:xfrm>
            <a:off x="666750" y="41529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35D5B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F4F481-847C-481A-B680-98F4D1939094}"/>
              </a:ext>
            </a:extLst>
          </p:cNvPr>
          <p:cNvSpPr>
            <a:spLocks noGrp="1"/>
          </p:cNvSpPr>
          <p:nvPr/>
        </p:nvSpPr>
        <p:spPr>
          <a:xfrm>
            <a:off x="685800" y="4191000"/>
            <a:ext cx="323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91B50A0-F82F-4CC3-BFDC-9448D2DCCFC6}"/>
              </a:ext>
            </a:extLst>
          </p:cNvPr>
          <p:cNvSpPr>
            <a:spLocks noGrp="1"/>
          </p:cNvSpPr>
          <p:nvPr/>
        </p:nvSpPr>
        <p:spPr>
          <a:xfrm>
            <a:off x="1162050" y="4191000"/>
            <a:ext cx="4095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GRC, SIEM, EDR, IAM, CMDB and ticketing APIs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853FB1C0-A853-4C12-B4F7-BB5FBE19DBA9}"/>
              </a:ext>
            </a:extLst>
          </p:cNvPr>
          <p:cNvSpPr>
            <a:spLocks noGrp="1"/>
          </p:cNvSpPr>
          <p:nvPr/>
        </p:nvSpPr>
        <p:spPr>
          <a:xfrm>
            <a:off x="5810250" y="1571625"/>
            <a:ext cx="9525" cy="371475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5A909D-ECD9-40F2-A53E-5ED024E89B70}"/>
              </a:ext>
            </a:extLst>
          </p:cNvPr>
          <p:cNvSpPr>
            <a:spLocks noGrp="1"/>
          </p:cNvSpPr>
          <p:nvPr/>
        </p:nvSpPr>
        <p:spPr>
          <a:xfrm>
            <a:off x="6238875" y="1571625"/>
            <a:ext cx="31432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038"/>
                </a:solidFill>
              </a:defRPr>
            </a:pPr>
            <a:r>
              <a:rPr sz="1725" b="1">
                <a:solidFill>
                  <a:srgbClr val="0B2038"/>
                </a:solidFill>
              </a:rPr>
              <a:t>Required control pattern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54521A-7495-4308-8DB5-C79F3B7F6EE6}"/>
              </a:ext>
            </a:extLst>
          </p:cNvPr>
          <p:cNvSpPr>
            <a:spLocks noGrp="1"/>
          </p:cNvSpPr>
          <p:nvPr/>
        </p:nvSpPr>
        <p:spPr>
          <a:xfrm>
            <a:off x="6238875" y="20955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35D5B"/>
                </a:solidFill>
              </a:defRPr>
            </a:pPr>
            <a:r>
              <a:rPr sz="900" b="1">
                <a:solidFill>
                  <a:srgbClr val="E35D5B"/>
                </a:solidFill>
              </a:rPr>
              <a:t>IDENTITY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22501E0-EAA8-4571-B036-7CE7DF5EB655}"/>
              </a:ext>
            </a:extLst>
          </p:cNvPr>
          <p:cNvSpPr>
            <a:spLocks noGrp="1"/>
          </p:cNvSpPr>
          <p:nvPr/>
        </p:nvSpPr>
        <p:spPr>
          <a:xfrm>
            <a:off x="7667625" y="2066925"/>
            <a:ext cx="3476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Dedicated read-only service identity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7C70B6-612D-4567-AAFD-679E81BF5D58}"/>
              </a:ext>
            </a:extLst>
          </p:cNvPr>
          <p:cNvSpPr>
            <a:spLocks noGrp="1"/>
          </p:cNvSpPr>
          <p:nvPr/>
        </p:nvSpPr>
        <p:spPr>
          <a:xfrm>
            <a:off x="6238875" y="26860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35D5B"/>
                </a:solidFill>
              </a:defRPr>
            </a:pPr>
            <a:r>
              <a:rPr sz="900" b="1">
                <a:solidFill>
                  <a:srgbClr val="E35D5B"/>
                </a:solidFill>
              </a:rPr>
              <a:t>SCOPE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DE6A2A1-40B7-4155-9707-8F6E0A397ED2}"/>
              </a:ext>
            </a:extLst>
          </p:cNvPr>
          <p:cNvSpPr>
            <a:spLocks noGrp="1"/>
          </p:cNvSpPr>
          <p:nvPr/>
        </p:nvSpPr>
        <p:spPr>
          <a:xfrm>
            <a:off x="7667625" y="2657475"/>
            <a:ext cx="3476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Allowlisted fields, views and queries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ED76702-6C55-42F1-81B5-8E0C218C506F}"/>
              </a:ext>
            </a:extLst>
          </p:cNvPr>
          <p:cNvSpPr>
            <a:spLocks noGrp="1"/>
          </p:cNvSpPr>
          <p:nvPr/>
        </p:nvSpPr>
        <p:spPr>
          <a:xfrm>
            <a:off x="6238875" y="32766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35D5B"/>
                </a:solidFill>
              </a:defRPr>
            </a:pPr>
            <a:r>
              <a:rPr sz="900" b="1">
                <a:solidFill>
                  <a:srgbClr val="E35D5B"/>
                </a:solidFill>
              </a:rPr>
              <a:t>PROTECTION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47398CB-AC53-4C5C-9E73-3B7D09A2520A}"/>
              </a:ext>
            </a:extLst>
          </p:cNvPr>
          <p:cNvSpPr>
            <a:spLocks noGrp="1"/>
          </p:cNvSpPr>
          <p:nvPr/>
        </p:nvSpPr>
        <p:spPr>
          <a:xfrm>
            <a:off x="7667625" y="3248025"/>
            <a:ext cx="3476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TLS, rotation and secret management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6B5F99-0C8D-45BB-A230-732408CC1DD1}"/>
              </a:ext>
            </a:extLst>
          </p:cNvPr>
          <p:cNvSpPr>
            <a:spLocks noGrp="1"/>
          </p:cNvSpPr>
          <p:nvPr/>
        </p:nvSpPr>
        <p:spPr>
          <a:xfrm>
            <a:off x="6238875" y="386715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35D5B"/>
                </a:solidFill>
              </a:defRPr>
            </a:pPr>
            <a:r>
              <a:rPr sz="900" b="1">
                <a:solidFill>
                  <a:srgbClr val="E35D5B"/>
                </a:solidFill>
              </a:rPr>
              <a:t>EVIDENCE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5D7A4B-6911-40CA-B416-438E1222CD21}"/>
              </a:ext>
            </a:extLst>
          </p:cNvPr>
          <p:cNvSpPr>
            <a:spLocks noGrp="1"/>
          </p:cNvSpPr>
          <p:nvPr/>
        </p:nvSpPr>
        <p:spPr>
          <a:xfrm>
            <a:off x="7667625" y="3838575"/>
            <a:ext cx="3476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Source ID, retrieval time and lineage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A6052AA-C290-4974-A1EB-6C7C4C3959E1}"/>
              </a:ext>
            </a:extLst>
          </p:cNvPr>
          <p:cNvSpPr>
            <a:spLocks noGrp="1"/>
          </p:cNvSpPr>
          <p:nvPr/>
        </p:nvSpPr>
        <p:spPr>
          <a:xfrm>
            <a:off x="6238875" y="44577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35D5B"/>
                </a:solidFill>
              </a:defRPr>
            </a:pPr>
            <a:r>
              <a:rPr sz="900" b="1">
                <a:solidFill>
                  <a:srgbClr val="E35D5B"/>
                </a:solidFill>
              </a:rPr>
              <a:t>ASSURANCE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DDAD7D8-977F-4720-A0F8-CDB41C1D060B}"/>
              </a:ext>
            </a:extLst>
          </p:cNvPr>
          <p:cNvSpPr>
            <a:spLocks noGrp="1"/>
          </p:cNvSpPr>
          <p:nvPr/>
        </p:nvSpPr>
        <p:spPr>
          <a:xfrm>
            <a:off x="7667625" y="4429125"/>
            <a:ext cx="3476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82838"/>
                </a:solidFill>
              </a:defRPr>
            </a:pPr>
            <a:r>
              <a:rPr sz="1275" b="0">
                <a:solidFill>
                  <a:srgbClr val="182838"/>
                </a:solidFill>
              </a:rPr>
              <a:t>Counts, dates, duplicates and mapping validation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779002E-EE5D-4D57-A1BE-0935527B3D59}"/>
              </a:ext>
            </a:extLst>
          </p:cNvPr>
          <p:cNvSpPr>
            <a:spLocks noGrp="1"/>
          </p:cNvSpPr>
          <p:nvPr/>
        </p:nvSpPr>
        <p:spPr>
          <a:xfrm>
            <a:off x="685800" y="5953125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E35D5B"/>
                </a:solidFill>
              </a:defRPr>
            </a:pPr>
            <a:r>
              <a:rPr sz="1350" b="1">
                <a:solidFill>
                  <a:srgbClr val="E35D5B"/>
                </a:solidFill>
              </a:rPr>
              <a:t>A connected record is evidence to assess—not proof that a control operated effectively.</a:t>
            </a:r>
          </a:p>
        </p:txBody>
      </p:sp>
    </p:spTree>
    <p:extLst>
      <p:ext uri="{BB962C8B-B14F-4D97-AF65-F5344CB8AC3E}">
        <p14:creationId xmlns:p14="http://schemas.microsoft.com/office/powerpoint/2010/main" val="1814422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B6626B1-CC7E-4EFF-94FF-E552C5C6A5CE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35D5B"/>
                </a:solidFill>
              </a:defRPr>
            </a:pPr>
            <a:r>
              <a:rPr sz="900" b="1">
                <a:solidFill>
                  <a:srgbClr val="E35D5B"/>
                </a:solidFill>
              </a:rPr>
              <a:t>AI BOUNDARY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692CA6-F64F-47A8-B437-E1C6663B6819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AI augments analysis; deterministic scoring remains the control plane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76C965DB-75BD-4832-9AC4-158FCEA8597C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4EA22F-9F49-4F69-B632-B8CB7A160A12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VirtuCISO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7D90CD-E3C7-4A56-9F8D-BE3FCAC172FC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EFC262-4216-4486-8D6F-86E6BC48B03F}"/>
              </a:ext>
            </a:extLst>
          </p:cNvPr>
          <p:cNvSpPr>
            <a:spLocks noGrp="1"/>
          </p:cNvSpPr>
          <p:nvPr/>
        </p:nvSpPr>
        <p:spPr>
          <a:xfrm>
            <a:off x="685800" y="166687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038"/>
                </a:solidFill>
              </a:defRPr>
            </a:pPr>
            <a:r>
              <a:rPr sz="1800" b="1">
                <a:solidFill>
                  <a:srgbClr val="0B2038"/>
                </a:solidFill>
              </a:rPr>
              <a:t>Deterministic core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42D1A4-B3ED-40FF-AD79-D545423D104D}"/>
              </a:ext>
            </a:extLst>
          </p:cNvPr>
          <p:cNvSpPr>
            <a:spLocks noGrp="1"/>
          </p:cNvSpPr>
          <p:nvPr/>
        </p:nvSpPr>
        <p:spPr>
          <a:xfrm>
            <a:off x="685800" y="2238375"/>
            <a:ext cx="2952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Assessment selection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0–4 scoring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findings creation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status and reassessment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structured dashboards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E0A3F0-0D6D-450E-AA26-F0D04A08472F}"/>
              </a:ext>
            </a:extLst>
          </p:cNvPr>
          <p:cNvSpPr>
            <a:spLocks noGrp="1"/>
          </p:cNvSpPr>
          <p:nvPr/>
        </p:nvSpPr>
        <p:spPr>
          <a:xfrm>
            <a:off x="4572000" y="1666875"/>
            <a:ext cx="295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038"/>
                </a:solidFill>
              </a:defRPr>
            </a:pPr>
            <a:r>
              <a:rPr sz="1800" b="1">
                <a:solidFill>
                  <a:srgbClr val="0B2038"/>
                </a:solidFill>
              </a:rPr>
              <a:t>Optional Claude layer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1A4975B-EE3B-44D4-BF43-FE97ABF8CD3B}"/>
              </a:ext>
            </a:extLst>
          </p:cNvPr>
          <p:cNvSpPr>
            <a:spLocks noGrp="1"/>
          </p:cNvSpPr>
          <p:nvPr/>
        </p:nvSpPr>
        <p:spPr>
          <a:xfrm>
            <a:off x="4572000" y="2238375"/>
            <a:ext cx="295275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Gap-analysis narrative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risk prioritization support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policy drafting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board-brief assistance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CISO learning advisor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9B09F4-A0CB-46FC-8ED8-C860313185A8}"/>
              </a:ext>
            </a:extLst>
          </p:cNvPr>
          <p:cNvSpPr>
            <a:spLocks noGrp="1"/>
          </p:cNvSpPr>
          <p:nvPr/>
        </p:nvSpPr>
        <p:spPr>
          <a:xfrm>
            <a:off x="8458200" y="1666875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2038"/>
                </a:solidFill>
              </a:defRPr>
            </a:pPr>
            <a:r>
              <a:rPr sz="1800" b="1">
                <a:solidFill>
                  <a:srgbClr val="0B2038"/>
                </a:solidFill>
              </a:rPr>
              <a:t>Guardrails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503968-9DE9-428F-BB6F-4DB32FA3E346}"/>
              </a:ext>
            </a:extLst>
          </p:cNvPr>
          <p:cNvSpPr>
            <a:spLocks noGrp="1"/>
          </p:cNvSpPr>
          <p:nvPr/>
        </p:nvSpPr>
        <p:spPr>
          <a:xfrm>
            <a:off x="8458200" y="2238375"/>
            <a:ext cx="2667000" cy="1809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Explicit user invocation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local key configuration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minimum-necessary context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no autonomous decisions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human review required</a:t>
            </a: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40E629C3-A669-456F-944B-C6D648B5B621}"/>
              </a:ext>
            </a:extLst>
          </p:cNvPr>
          <p:cNvSpPr>
            <a:spLocks noGrp="1"/>
          </p:cNvSpPr>
          <p:nvPr/>
        </p:nvSpPr>
        <p:spPr>
          <a:xfrm>
            <a:off x="685800" y="4619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C2041EA-07BE-42C7-A7CC-88E855347A16}"/>
              </a:ext>
            </a:extLst>
          </p:cNvPr>
          <p:cNvSpPr>
            <a:spLocks noGrp="1"/>
          </p:cNvSpPr>
          <p:nvPr/>
        </p:nvSpPr>
        <p:spPr>
          <a:xfrm>
            <a:off x="685800" y="49530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E35D5B"/>
                </a:solidFill>
              </a:defRPr>
            </a:pPr>
            <a:r>
              <a:rPr sz="1050" b="1">
                <a:solidFill>
                  <a:srgbClr val="E35D5B"/>
                </a:solidFill>
              </a:rPr>
              <a:t>Design principle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3DDDA7-63FC-4538-9C7C-FB5460FE91F5}"/>
              </a:ext>
            </a:extLst>
          </p:cNvPr>
          <p:cNvSpPr>
            <a:spLocks noGrp="1"/>
          </p:cNvSpPr>
          <p:nvPr/>
        </p:nvSpPr>
        <p:spPr>
          <a:xfrm>
            <a:off x="2381250" y="4905375"/>
            <a:ext cx="8858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2038"/>
                </a:solidFill>
              </a:defRPr>
            </a:pPr>
            <a:r>
              <a:rPr sz="1500" b="1">
                <a:solidFill>
                  <a:srgbClr val="0B2038"/>
                </a:solidFill>
              </a:rPr>
              <a:t>Use AI to accelerate synthesis—not to establish compliance, accept risk, certify controls or transmit sensitive evidence without approval.</a:t>
            </a:r>
          </a:p>
        </p:txBody>
      </p:sp>
    </p:spTree>
    <p:extLst>
      <p:ext uri="{BB962C8B-B14F-4D97-AF65-F5344CB8AC3E}">
        <p14:creationId xmlns:p14="http://schemas.microsoft.com/office/powerpoint/2010/main" val="339960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7D3D482-45D2-44A8-A303-08DF723C04DD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35D5B"/>
                </a:solidFill>
              </a:defRPr>
            </a:pPr>
            <a:r>
              <a:rPr sz="900" b="1">
                <a:solidFill>
                  <a:srgbClr val="E35D5B"/>
                </a:solidFill>
              </a:rPr>
              <a:t>MANAGEMENT COCKPIT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9DC6C6-FF8C-4BE3-A471-BFC9B9C2E592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Executive reporting links cyber posture to decisions, owners and deadlines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F79E77F5-6769-4D22-8E70-543A9B86CA00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7A480E-AD79-49C1-82D9-F843620A3A9E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VirtuCISO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6B6588-EF91-4A39-BF59-4C2792315105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3CBCBE-DC20-49FC-8C9B-24AD236BBC4D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E35D5B"/>
                </a:solidFill>
              </a:defRPr>
            </a:pPr>
            <a:r>
              <a:rPr sz="1650" b="1">
                <a:solidFill>
                  <a:srgbClr val="E35D5B"/>
                </a:solidFill>
              </a:rPr>
              <a:t>Risk posture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9A075C-E912-4903-AF6A-4E67B4AB3A6E}"/>
              </a:ext>
            </a:extLst>
          </p:cNvPr>
          <p:cNvSpPr>
            <a:spLocks noGrp="1"/>
          </p:cNvSpPr>
          <p:nvPr/>
        </p:nvSpPr>
        <p:spPr>
          <a:xfrm>
            <a:off x="685800" y="2286000"/>
            <a:ext cx="304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Critical / high exposure and treatment progress</a:t>
            </a:r>
          </a:p>
        </p:txBody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DF248990-2303-4AFB-B450-6A30BC79EDB1}"/>
              </a:ext>
            </a:extLst>
          </p:cNvPr>
          <p:cNvSpPr>
            <a:spLocks noGrp="1"/>
          </p:cNvSpPr>
          <p:nvPr/>
        </p:nvSpPr>
        <p:spPr>
          <a:xfrm>
            <a:off x="4019550" y="1762125"/>
            <a:ext cx="9525" cy="123825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51D0C-A202-42FD-843D-04A20DE08A32}"/>
              </a:ext>
            </a:extLst>
          </p:cNvPr>
          <p:cNvSpPr>
            <a:spLocks noGrp="1"/>
          </p:cNvSpPr>
          <p:nvPr/>
        </p:nvSpPr>
        <p:spPr>
          <a:xfrm>
            <a:off x="4438650" y="1762125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8A89"/>
                </a:solidFill>
              </a:defRPr>
            </a:pPr>
            <a:r>
              <a:rPr sz="1650" b="1">
                <a:solidFill>
                  <a:srgbClr val="0B8A89"/>
                </a:solidFill>
              </a:rPr>
              <a:t>Compliance readiness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5F5D222-FA25-451F-A8F6-55A4A8CE31A8}"/>
              </a:ext>
            </a:extLst>
          </p:cNvPr>
          <p:cNvSpPr>
            <a:spLocks noGrp="1"/>
          </p:cNvSpPr>
          <p:nvPr/>
        </p:nvSpPr>
        <p:spPr>
          <a:xfrm>
            <a:off x="4438650" y="2286000"/>
            <a:ext cx="304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Framework and domain gaps with evidence status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D68936E-2391-4553-B785-FA6CC9ACB320}"/>
              </a:ext>
            </a:extLst>
          </p:cNvPr>
          <p:cNvSpPr>
            <a:spLocks noGrp="1"/>
          </p:cNvSpPr>
          <p:nvPr/>
        </p:nvSpPr>
        <p:spPr>
          <a:xfrm>
            <a:off x="7772400" y="1762125"/>
            <a:ext cx="9525" cy="123825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E9BE72B-858B-4F88-8AB0-87F0AA516D05}"/>
              </a:ext>
            </a:extLst>
          </p:cNvPr>
          <p:cNvSpPr>
            <a:spLocks noGrp="1"/>
          </p:cNvSpPr>
          <p:nvPr/>
        </p:nvSpPr>
        <p:spPr>
          <a:xfrm>
            <a:off x="8191500" y="1762125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B6FA6"/>
                </a:solidFill>
              </a:defRPr>
            </a:pPr>
            <a:r>
              <a:rPr sz="1650" b="1">
                <a:solidFill>
                  <a:srgbClr val="2B6FA6"/>
                </a:solidFill>
              </a:rPr>
              <a:t>Operational resilience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3A6F8C-04FA-471C-BF1B-9B1C4E17796B}"/>
              </a:ext>
            </a:extLst>
          </p:cNvPr>
          <p:cNvSpPr>
            <a:spLocks noGrp="1"/>
          </p:cNvSpPr>
          <p:nvPr/>
        </p:nvSpPr>
        <p:spPr>
          <a:xfrm>
            <a:off x="8191500" y="2286000"/>
            <a:ext cx="304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Incidents, vulnerabilities and remediation aging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7E803F-2A4A-4131-946A-C6EF7B487774}"/>
              </a:ext>
            </a:extLst>
          </p:cNvPr>
          <p:cNvSpPr>
            <a:spLocks noGrp="1"/>
          </p:cNvSpPr>
          <p:nvPr/>
        </p:nvSpPr>
        <p:spPr>
          <a:xfrm>
            <a:off x="685800" y="3857625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E35D5B"/>
                </a:solidFill>
              </a:defRPr>
            </a:pPr>
            <a:r>
              <a:rPr sz="1650" b="1">
                <a:solidFill>
                  <a:srgbClr val="E35D5B"/>
                </a:solidFill>
              </a:rPr>
              <a:t>Third-party exposure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8116162-0339-4920-BE33-CACCDAA19AA2}"/>
              </a:ext>
            </a:extLst>
          </p:cNvPr>
          <p:cNvSpPr>
            <a:spLocks noGrp="1"/>
          </p:cNvSpPr>
          <p:nvPr/>
        </p:nvSpPr>
        <p:spPr>
          <a:xfrm>
            <a:off x="685800" y="4381500"/>
            <a:ext cx="304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Tiering, high-risk suppliers and overdue reviews</a:t>
            </a: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87B4D8C0-EE0C-466F-996D-71BAB6292002}"/>
              </a:ext>
            </a:extLst>
          </p:cNvPr>
          <p:cNvSpPr>
            <a:spLocks noGrp="1"/>
          </p:cNvSpPr>
          <p:nvPr/>
        </p:nvSpPr>
        <p:spPr>
          <a:xfrm>
            <a:off x="4019550" y="3857625"/>
            <a:ext cx="9525" cy="123825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A86A77-871C-48D7-B6BD-4007A8287FD8}"/>
              </a:ext>
            </a:extLst>
          </p:cNvPr>
          <p:cNvSpPr>
            <a:spLocks noGrp="1"/>
          </p:cNvSpPr>
          <p:nvPr/>
        </p:nvSpPr>
        <p:spPr>
          <a:xfrm>
            <a:off x="4438650" y="3857625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8A89"/>
                </a:solidFill>
              </a:defRPr>
            </a:pPr>
            <a:r>
              <a:rPr sz="1650" b="1">
                <a:solidFill>
                  <a:srgbClr val="0B8A89"/>
                </a:solidFill>
              </a:rPr>
              <a:t>Assurance progress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47D913-89B4-420B-9032-A543648F1470}"/>
              </a:ext>
            </a:extLst>
          </p:cNvPr>
          <p:cNvSpPr>
            <a:spLocks noGrp="1"/>
          </p:cNvSpPr>
          <p:nvPr/>
        </p:nvSpPr>
        <p:spPr>
          <a:xfrm>
            <a:off x="4438650" y="4381500"/>
            <a:ext cx="304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Findings closed, evidence accepted and reassessment</a:t>
            </a: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852FB4CB-5B99-4A1D-928B-F95E46F7D862}"/>
              </a:ext>
            </a:extLst>
          </p:cNvPr>
          <p:cNvSpPr>
            <a:spLocks noGrp="1"/>
          </p:cNvSpPr>
          <p:nvPr/>
        </p:nvSpPr>
        <p:spPr>
          <a:xfrm>
            <a:off x="7772400" y="3857625"/>
            <a:ext cx="9525" cy="123825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322D6B-04A8-43F8-BCC8-D986D5C09060}"/>
              </a:ext>
            </a:extLst>
          </p:cNvPr>
          <p:cNvSpPr>
            <a:spLocks noGrp="1"/>
          </p:cNvSpPr>
          <p:nvPr/>
        </p:nvSpPr>
        <p:spPr>
          <a:xfrm>
            <a:off x="8191500" y="3857625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2B6FA6"/>
                </a:solidFill>
              </a:defRPr>
            </a:pPr>
            <a:r>
              <a:rPr sz="1650" b="1">
                <a:solidFill>
                  <a:srgbClr val="2B6FA6"/>
                </a:solidFill>
              </a:rPr>
              <a:t>Board narrative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29EA9D-208C-48C0-B5EF-BBAB1B152229}"/>
              </a:ext>
            </a:extLst>
          </p:cNvPr>
          <p:cNvSpPr>
            <a:spLocks noGrp="1"/>
          </p:cNvSpPr>
          <p:nvPr/>
        </p:nvSpPr>
        <p:spPr>
          <a:xfrm>
            <a:off x="8191500" y="4381500"/>
            <a:ext cx="3048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5F7180"/>
                </a:solidFill>
              </a:defRPr>
            </a:pPr>
            <a:r>
              <a:rPr sz="1275" b="0">
                <a:solidFill>
                  <a:srgbClr val="5F7180"/>
                </a:solidFill>
              </a:rPr>
              <a:t>Priority decisions, investment asks and accepted risk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12154FB-28C7-4ECB-928F-0EC7A4B9A134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105727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2038"/>
                </a:solidFill>
              </a:defRPr>
            </a:pPr>
            <a:r>
              <a:rPr sz="1350" b="1">
                <a:solidFill>
                  <a:srgbClr val="0B2038"/>
                </a:solidFill>
              </a:rPr>
              <a:t>The executive view should remain an aggregation layer; detailed evidence and personal or regulated data require narrower access.</a:t>
            </a:r>
          </a:p>
        </p:txBody>
      </p:sp>
    </p:spTree>
    <p:extLst>
      <p:ext uri="{BB962C8B-B14F-4D97-AF65-F5344CB8AC3E}">
        <p14:creationId xmlns:p14="http://schemas.microsoft.com/office/powerpoint/2010/main" val="402405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BF79F89-357D-4269-86BF-315913C36BDA}"/>
              </a:ext>
            </a:extLst>
          </p:cNvPr>
          <p:cNvSpPr>
            <a:spLocks noGrp="1"/>
          </p:cNvSpPr>
          <p:nvPr/>
        </p:nvSpPr>
        <p:spPr>
          <a:xfrm>
            <a:off x="685800" y="333375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00" b="1">
                <a:solidFill>
                  <a:srgbClr val="E35D5B"/>
                </a:solidFill>
              </a:defRPr>
            </a:pPr>
            <a:r>
              <a:rPr sz="900" b="1">
                <a:solidFill>
                  <a:srgbClr val="E35D5B"/>
                </a:solidFill>
              </a:rPr>
              <a:t>DEPLOYMENT PATH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A219D6-1F5A-4F6E-98DD-FC7D7F00995F}"/>
              </a:ext>
            </a:extLst>
          </p:cNvPr>
          <p:cNvSpPr>
            <a:spLocks noGrp="1"/>
          </p:cNvSpPr>
          <p:nvPr/>
        </p:nvSpPr>
        <p:spPr>
          <a:xfrm>
            <a:off x="685800" y="666750"/>
            <a:ext cx="108204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700" b="1">
                <a:solidFill>
                  <a:srgbClr val="0B2038"/>
                </a:solidFill>
              </a:defRPr>
            </a:pPr>
            <a:r>
              <a:rPr sz="2700" b="1">
                <a:solidFill>
                  <a:srgbClr val="0B2038"/>
                </a:solidFill>
              </a:rPr>
              <a:t>Prove the workflow first; harden the platform before scaling</a:t>
            </a:r>
          </a:p>
        </p:txBody>
      </p:sp>
      <p:sp>
        <p:nvSpPr>
          <p:cNvPr id="3" name="Straight Connector 2">
            <a:extLst>
              <a:ext uri="{FF2B5EF4-FFF2-40B4-BE49-F238E27FC236}">
                <a16:creationId xmlns:a16="http://schemas.microsoft.com/office/drawing/2014/main" id="{43590114-1051-4CB4-8208-9CA2B3A64396}"/>
              </a:ext>
            </a:extLst>
          </p:cNvPr>
          <p:cNvSpPr>
            <a:spLocks noGrp="1"/>
          </p:cNvSpPr>
          <p:nvPr/>
        </p:nvSpPr>
        <p:spPr>
          <a:xfrm>
            <a:off x="685800" y="1571625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296E8A-628F-4A80-8EDB-40C70C79DBD2}"/>
              </a:ext>
            </a:extLst>
          </p:cNvPr>
          <p:cNvSpPr>
            <a:spLocks noGrp="1"/>
          </p:cNvSpPr>
          <p:nvPr/>
        </p:nvSpPr>
        <p:spPr>
          <a:xfrm>
            <a:off x="685800" y="653415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VirtuCISO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352724-7247-4A7F-9294-083CD6FB5B1A}"/>
              </a:ext>
            </a:extLst>
          </p:cNvPr>
          <p:cNvSpPr>
            <a:spLocks noGrp="1"/>
          </p:cNvSpPr>
          <p:nvPr/>
        </p:nvSpPr>
        <p:spPr>
          <a:xfrm>
            <a:off x="10906125" y="6534150"/>
            <a:ext cx="6000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5F7180"/>
                </a:solidFill>
              </a:defRPr>
            </a:pPr>
            <a:r>
              <a:rPr sz="750" b="1">
                <a:solidFill>
                  <a:srgbClr val="5F7180"/>
                </a:solidFill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F32FD6B-64A5-4D68-AD2C-FF2D00BD95F6}"/>
              </a:ext>
            </a:extLst>
          </p:cNvPr>
          <p:cNvSpPr>
            <a:spLocks noGrp="1"/>
          </p:cNvSpPr>
          <p:nvPr/>
        </p:nvSpPr>
        <p:spPr>
          <a:xfrm>
            <a:off x="685800" y="17145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E35D5B"/>
                </a:solidFill>
              </a:defRPr>
            </a:pPr>
            <a:r>
              <a:rPr sz="1950" b="1">
                <a:solidFill>
                  <a:srgbClr val="E35D5B"/>
                </a:solidFill>
              </a:rPr>
              <a:t>1. Prove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10FAF-6235-43C6-BC85-D7E6D717150D}"/>
              </a:ext>
            </a:extLst>
          </p:cNvPr>
          <p:cNvSpPr>
            <a:spLocks noGrp="1"/>
          </p:cNvSpPr>
          <p:nvPr/>
        </p:nvSpPr>
        <p:spPr>
          <a:xfrm>
            <a:off x="685800" y="21907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F7180"/>
                </a:solidFill>
              </a:defRPr>
            </a:pPr>
            <a:r>
              <a:rPr sz="1125" b="1">
                <a:solidFill>
                  <a:srgbClr val="5F7180"/>
                </a:solidFill>
              </a:rPr>
              <a:t>0–30 days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587495-FA60-49B6-B06E-E3CBDFCDA656}"/>
              </a:ext>
            </a:extLst>
          </p:cNvPr>
          <p:cNvSpPr>
            <a:spLocks noGrp="1"/>
          </p:cNvSpPr>
          <p:nvPr/>
        </p:nvSpPr>
        <p:spPr>
          <a:xfrm>
            <a:off x="685800" y="2714625"/>
            <a:ext cx="3048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Select 2–3 assessments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load synthetic / low-risk data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validate scoring and findings</a:t>
            </a:r>
          </a:p>
        </p:txBody>
      </p:sp>
      <p:sp>
        <p:nvSpPr>
          <p:cNvPr id="9" name="Straight Connector 8">
            <a:extLst>
              <a:ext uri="{FF2B5EF4-FFF2-40B4-BE49-F238E27FC236}">
                <a16:creationId xmlns:a16="http://schemas.microsoft.com/office/drawing/2014/main" id="{335BEB62-E464-4E4E-B2E4-B97410A73EC1}"/>
              </a:ext>
            </a:extLst>
          </p:cNvPr>
          <p:cNvSpPr>
            <a:spLocks noGrp="1"/>
          </p:cNvSpPr>
          <p:nvPr/>
        </p:nvSpPr>
        <p:spPr>
          <a:xfrm>
            <a:off x="3971925" y="1666875"/>
            <a:ext cx="9525" cy="266700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C561096-9BBF-4DCE-BBB3-1974638FE204}"/>
              </a:ext>
            </a:extLst>
          </p:cNvPr>
          <p:cNvSpPr>
            <a:spLocks noGrp="1"/>
          </p:cNvSpPr>
          <p:nvPr/>
        </p:nvSpPr>
        <p:spPr>
          <a:xfrm>
            <a:off x="4324350" y="17145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0B8A89"/>
                </a:solidFill>
              </a:defRPr>
            </a:pPr>
            <a:r>
              <a:rPr sz="1950" b="1">
                <a:solidFill>
                  <a:srgbClr val="0B8A89"/>
                </a:solidFill>
              </a:rPr>
              <a:t>2. Integrate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259FBC-F20E-4BFE-8D17-28CDF5F7912D}"/>
              </a:ext>
            </a:extLst>
          </p:cNvPr>
          <p:cNvSpPr>
            <a:spLocks noGrp="1"/>
          </p:cNvSpPr>
          <p:nvPr/>
        </p:nvSpPr>
        <p:spPr>
          <a:xfrm>
            <a:off x="4324350" y="21907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F7180"/>
                </a:solidFill>
              </a:defRPr>
            </a:pPr>
            <a:r>
              <a:rPr sz="1125" b="1">
                <a:solidFill>
                  <a:srgbClr val="5F7180"/>
                </a:solidFill>
              </a:rPr>
              <a:t>31–90 days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3CFDD1-2EC1-4DDB-A246-08B79A595D8E}"/>
              </a:ext>
            </a:extLst>
          </p:cNvPr>
          <p:cNvSpPr>
            <a:spLocks noGrp="1"/>
          </p:cNvSpPr>
          <p:nvPr/>
        </p:nvSpPr>
        <p:spPr>
          <a:xfrm>
            <a:off x="4324350" y="2714625"/>
            <a:ext cx="3048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Connect curated sources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set identity and retention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calibrate executive reports</a:t>
            </a: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7084CB15-3DF7-47F2-AAA9-D8DE972ED8AC}"/>
              </a:ext>
            </a:extLst>
          </p:cNvPr>
          <p:cNvSpPr>
            <a:spLocks noGrp="1"/>
          </p:cNvSpPr>
          <p:nvPr/>
        </p:nvSpPr>
        <p:spPr>
          <a:xfrm>
            <a:off x="7610475" y="1666875"/>
            <a:ext cx="9525" cy="2667000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8B3D6E-DBBB-459C-B5B8-CCC754858CBF}"/>
              </a:ext>
            </a:extLst>
          </p:cNvPr>
          <p:cNvSpPr>
            <a:spLocks noGrp="1"/>
          </p:cNvSpPr>
          <p:nvPr/>
        </p:nvSpPr>
        <p:spPr>
          <a:xfrm>
            <a:off x="7962900" y="1714500"/>
            <a:ext cx="3048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2B6FA6"/>
                </a:solidFill>
              </a:defRPr>
            </a:pPr>
            <a:r>
              <a:rPr sz="1950" b="1">
                <a:solidFill>
                  <a:srgbClr val="2B6FA6"/>
                </a:solidFill>
              </a:rPr>
              <a:t>3. Scale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B202BD-36E0-4173-838D-28F3880F6EE8}"/>
              </a:ext>
            </a:extLst>
          </p:cNvPr>
          <p:cNvSpPr>
            <a:spLocks noGrp="1"/>
          </p:cNvSpPr>
          <p:nvPr/>
        </p:nvSpPr>
        <p:spPr>
          <a:xfrm>
            <a:off x="7962900" y="2190750"/>
            <a:ext cx="3048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5F7180"/>
                </a:solidFill>
              </a:defRPr>
            </a:pPr>
            <a:r>
              <a:rPr sz="1125" b="1">
                <a:solidFill>
                  <a:srgbClr val="5F7180"/>
                </a:solidFill>
              </a:rPr>
              <a:t>90+ days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172CB74-A0EB-45F4-B377-23B0F6B785A9}"/>
              </a:ext>
            </a:extLst>
          </p:cNvPr>
          <p:cNvSpPr>
            <a:spLocks noGrp="1"/>
          </p:cNvSpPr>
          <p:nvPr/>
        </p:nvSpPr>
        <p:spPr>
          <a:xfrm>
            <a:off x="7962900" y="2714625"/>
            <a:ext cx="3048000" cy="1381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Harden deployment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formalize assurance ownership</a:t>
            </a:r>
          </a:p>
          <a:p>
            <a:pPr algn="l">
              <a:defRPr sz="1350" b="0">
                <a:solidFill>
                  <a:srgbClr val="182838"/>
                </a:solidFill>
              </a:defRPr>
            </a:pPr>
            <a:r>
              <a:rPr sz="1350" b="0">
                <a:solidFill>
                  <a:srgbClr val="182838"/>
                </a:solidFill>
              </a:rPr>
              <a:t>expand domains and users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2346DD79-2C7F-4E5D-899F-61DE81C22331}"/>
              </a:ext>
            </a:extLst>
          </p:cNvPr>
          <p:cNvSpPr>
            <a:spLocks noGrp="1"/>
          </p:cNvSpPr>
          <p:nvPr/>
        </p:nvSpPr>
        <p:spPr>
          <a:xfrm>
            <a:off x="685800" y="4762500"/>
            <a:ext cx="10820400" cy="9525"/>
          </a:xfrm>
          <a:prstGeom prst="line">
            <a:avLst/>
          </a:prstGeom>
          <a:noFill/>
          <a:ln w="9525">
            <a:solidFill>
              <a:srgbClr val="D9E1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A3DFF4-168B-487F-9654-6C0AB9BD273D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85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2038"/>
                </a:solidFill>
              </a:defRPr>
            </a:pPr>
            <a:r>
              <a:rPr sz="1725" b="1">
                <a:solidFill>
                  <a:srgbClr val="0B2038"/>
                </a:solidFill>
              </a:rPr>
              <a:t>Executive decisions required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66C9C6B-8CB9-4BCC-B123-9838A1328CB3}"/>
              </a:ext>
            </a:extLst>
          </p:cNvPr>
          <p:cNvSpPr>
            <a:spLocks noGrp="1"/>
          </p:cNvSpPr>
          <p:nvPr/>
        </p:nvSpPr>
        <p:spPr>
          <a:xfrm>
            <a:off x="685800" y="5572125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82838"/>
                </a:solidFill>
              </a:defRPr>
            </a:pPr>
            <a:r>
              <a:rPr sz="1275" b="1">
                <a:solidFill>
                  <a:srgbClr val="182838"/>
                </a:solidFill>
              </a:rPr>
              <a:t>Sponsor and use cases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BD7455C-E001-4DDC-B6EB-3A99F5EF8427}"/>
              </a:ext>
            </a:extLst>
          </p:cNvPr>
          <p:cNvSpPr>
            <a:spLocks noGrp="1"/>
          </p:cNvSpPr>
          <p:nvPr/>
        </p:nvSpPr>
        <p:spPr>
          <a:xfrm>
            <a:off x="3714750" y="5572125"/>
            <a:ext cx="2571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82838"/>
                </a:solidFill>
              </a:defRPr>
            </a:pPr>
            <a:r>
              <a:rPr sz="1275" b="1">
                <a:solidFill>
                  <a:srgbClr val="182838"/>
                </a:solidFill>
              </a:rPr>
              <a:t>Risk and data boundaries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27478F2-8372-4ADD-AF9D-6141C1A9F7DC}"/>
              </a:ext>
            </a:extLst>
          </p:cNvPr>
          <p:cNvSpPr>
            <a:spLocks noGrp="1"/>
          </p:cNvSpPr>
          <p:nvPr/>
        </p:nvSpPr>
        <p:spPr>
          <a:xfrm>
            <a:off x="6905625" y="5572125"/>
            <a:ext cx="26193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82838"/>
                </a:solidFill>
              </a:defRPr>
            </a:pPr>
            <a:r>
              <a:rPr sz="1275" b="1">
                <a:solidFill>
                  <a:srgbClr val="182838"/>
                </a:solidFill>
              </a:rPr>
              <a:t>System-of-record target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A020735-462D-46AF-B9F8-56088F1454BE}"/>
              </a:ext>
            </a:extLst>
          </p:cNvPr>
          <p:cNvSpPr>
            <a:spLocks noGrp="1"/>
          </p:cNvSpPr>
          <p:nvPr/>
        </p:nvSpPr>
        <p:spPr>
          <a:xfrm>
            <a:off x="9810750" y="5572125"/>
            <a:ext cx="1666875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182838"/>
                </a:solidFill>
              </a:defRPr>
            </a:pPr>
            <a:r>
              <a:rPr sz="1275" b="1">
                <a:solidFill>
                  <a:srgbClr val="182838"/>
                </a:solidFill>
              </a:rPr>
              <a:t>Success measures</a:t>
            </a:r>
          </a:p>
        </p:txBody>
      </p:sp>
    </p:spTree>
    <p:extLst>
      <p:ext uri="{BB962C8B-B14F-4D97-AF65-F5344CB8AC3E}">
        <p14:creationId xmlns:p14="http://schemas.microsoft.com/office/powerpoint/2010/main" val="667057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1509</Words>
  <Application>Microsoft Macintosh PowerPoint</Application>
  <DocSecurity>0</DocSecurity>
  <PresentationFormat>Widescreen</PresentationFormat>
  <Paragraphs>260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Fareeha Shaik</cp:lastModifiedBy>
  <cp:revision>1</cp:revision>
  <dcterms:created xsi:type="dcterms:W3CDTF">2026-08-20T03:50:15Z</dcterms:created>
  <dcterms:modified xsi:type="dcterms:W3CDTF">2026-08-20T03:54:24Z</dcterms:modified>
</cp:coreProperties>
</file>